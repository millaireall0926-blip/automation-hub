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674" r:id="rId2"/>
    <p:sldId id="675" r:id="rId3"/>
    <p:sldId id="682" r:id="rId4"/>
    <p:sldId id="684" r:id="rId5"/>
    <p:sldId id="680" r:id="rId6"/>
    <p:sldId id="683" r:id="rId7"/>
    <p:sldId id="681" r:id="rId8"/>
  </p:sldIdLst>
  <p:sldSz cx="9144000" cy="6858000" type="screen4x3"/>
  <p:notesSz cx="6794500" cy="9931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23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lden Yuan" initials="HY" lastIdx="6" clrIdx="0"/>
  <p:cmAuthor id="1" name="X1C" initials="X" lastIdx="1" clrIdx="1"/>
  <p:cmAuthor id="2" name="Edward Fairfax deRochester" initials="Rochester" lastIdx="1" clrIdx="2"/>
  <p:cmAuthor id="3" name="Robin" initials="Robin" lastIdx="1" clrIdx="3"/>
  <p:cmAuthor id="4" name="weikang li" initials="wl" lastIdx="2" clrIdx="4"/>
  <p:cmAuthor id="5" name="mini Arhat" initials="mA" lastIdx="1" clrIdx="5"/>
  <p:cmAuthor id="6" name="zxd" initials="zxd" lastIdx="2" clrIdx="5"/>
  <p:cmAuthor id="7" name="Ash" initials="A" lastIdx="6" clrIdx="6"/>
  <p:cmAuthor id="8" name="Alex Li Yang" initials="ALY" lastIdx="30" clrIdx="7"/>
  <p:cmAuthor id="9" name="扈益嘉" initials="huyijia" lastIdx="2" clrIdx="8"/>
  <p:cmAuthor id="10" name="胡建伟" initials="胡建伟" lastIdx="1" clrIdx="9"/>
  <p:cmAuthor id="11" name="Yiran Lai" initials="YL" lastIdx="18" clrIdx="10"/>
  <p:cmAuthor id="12" name="SUPERPETER YOUNG" initials="SY" lastIdx="1" clrIdx="11"/>
  <p:cmAuthor id="13" name="mac" initials="m" lastIdx="19" clrIdx="12"/>
  <p:cmAuthor id="15" name="sony" initials="s" lastIdx="5" clrIdx="14"/>
  <p:cmAuthor id="16" name="cai dan" initials="cd" lastIdx="1" clrIdx="15"/>
  <p:cmAuthor id="17" name="seven zhang" initials="sz" lastIdx="1" clrIdx="16"/>
  <p:cmAuthor id="18" name="xinyi tong" initials="xt" lastIdx="14" clrIdx="17"/>
  <p:cmAuthor id="19" name="Shuwen Zhang" initials="S" lastIdx="5" clrIdx="18"/>
  <p:cmAuthor id="20" name="YA QI" initials="YQ" lastIdx="1" clrIdx="1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  <a:srgbClr val="3333FF"/>
    <a:srgbClr val="FF0066"/>
    <a:srgbClr val="8CA0FC"/>
    <a:srgbClr val="6E9FFD"/>
    <a:srgbClr val="E1DFE5"/>
    <a:srgbClr val="4A9FFC"/>
    <a:srgbClr val="B4A0FC"/>
    <a:srgbClr val="006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6" autoAdjust="0"/>
    <p:restoredTop sz="95522" autoAdjust="0"/>
  </p:normalViewPr>
  <p:slideViewPr>
    <p:cSldViewPr snapToGrid="0">
      <p:cViewPr varScale="1">
        <p:scale>
          <a:sx n="74" d="100"/>
          <a:sy n="74" d="100"/>
        </p:scale>
        <p:origin x="1308" y="66"/>
      </p:cViewPr>
      <p:guideLst>
        <p:guide pos="2880"/>
        <p:guide orient="horz" pos="23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4" cy="498295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644" y="0"/>
            <a:ext cx="2944284" cy="498295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2550AF3B-A958-4092-AC1D-35578171D28E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41425"/>
            <a:ext cx="4470400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9487"/>
            <a:ext cx="5435600" cy="3910489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3109"/>
            <a:ext cx="2944284" cy="49829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644" y="9433109"/>
            <a:ext cx="2944284" cy="49829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E851B1AB-84D4-4BC4-9376-845D36F0432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51A936A-6E7E-47F9-814A-CD54A9ECD4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8AB9E7-FA24-41CD-8A40-CBF8522D73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009ECD7-42EC-4B0F-85A7-6C5162668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CCC088-F717-4614-BA61-EA8C81D55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61166" y="345765"/>
            <a:ext cx="1199014" cy="400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3539" y="404664"/>
            <a:ext cx="6912767" cy="601985"/>
          </a:xfrm>
          <a:prstGeom prst="rect">
            <a:avLst/>
          </a:prstGeom>
        </p:spPr>
        <p:txBody>
          <a:bodyPr anchor="ctr" anchorCtr="0"/>
          <a:lstStyle>
            <a:lvl1pPr>
              <a:defRPr sz="165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9" y="1210643"/>
            <a:ext cx="8316924" cy="778495"/>
          </a:xfrm>
          <a:prstGeom prst="rect">
            <a:avLst/>
          </a:prstGeom>
        </p:spPr>
        <p:txBody>
          <a:bodyPr/>
          <a:lstStyle>
            <a:lvl1pPr algn="l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Tx/>
              <a:buNone/>
              <a:defRPr sz="1350" b="0">
                <a:solidFill>
                  <a:schemeClr val="tx1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buClr>
                <a:srgbClr val="C00000"/>
              </a:buClr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buClr>
                <a:srgbClr val="C00000"/>
              </a:buClr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buClr>
                <a:srgbClr val="C00000"/>
              </a:buClr>
              <a:buFontTx/>
              <a:buNone/>
              <a:defRPr sz="900">
                <a:solidFill>
                  <a:schemeClr val="tx2"/>
                </a:solidFill>
                <a:latin typeface="Times New Roman" panose="02020603050405020304" pitchFamily="18" charset="0"/>
                <a:ea typeface="幼圆" pitchFamily="49" charset="-122"/>
                <a:cs typeface="Times New Roman" panose="02020603050405020304" pitchFamily="18" charset="0"/>
              </a:defRPr>
            </a:lvl4pPr>
            <a:lvl5pPr>
              <a:buClr>
                <a:srgbClr val="C00000"/>
              </a:buClr>
              <a:buFontTx/>
              <a:buNone/>
              <a:defRPr sz="9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1" name="日期占位符 1"/>
          <p:cNvSpPr>
            <a:spLocks noGrp="1"/>
          </p:cNvSpPr>
          <p:nvPr>
            <p:ph type="dt" sz="half" idx="2"/>
          </p:nvPr>
        </p:nvSpPr>
        <p:spPr>
          <a:xfrm>
            <a:off x="0" y="6610351"/>
            <a:ext cx="2133600" cy="225425"/>
          </a:xfrm>
          <a:prstGeom prst="rect">
            <a:avLst/>
          </a:prstGeom>
        </p:spPr>
        <p:txBody>
          <a:bodyPr vert="horz" wrap="square" lIns="91440" tIns="45720" rIns="91440" bIns="45720" numCol="1" anchor="ctr" anchorCtr="1" compatLnSpc="1"/>
          <a:lstStyle>
            <a:lvl1pPr algn="ctr">
              <a:defRPr sz="750">
                <a:solidFill>
                  <a:srgbClr val="4C6C9C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74B7A26-8A9B-44C9-90FD-417C0133DD51}" type="datetime1">
              <a:rPr lang="zh-CN" altLang="en-US" smtClean="0"/>
              <a:t>2025/6/24</a:t>
            </a:fld>
            <a:endParaRPr lang="zh-CN" altLang="en-US" dirty="0"/>
          </a:p>
        </p:txBody>
      </p:sp>
      <p:sp>
        <p:nvSpPr>
          <p:cNvPr id="3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6610351"/>
            <a:ext cx="2895600" cy="225425"/>
          </a:xfrm>
          <a:prstGeom prst="rect">
            <a:avLst/>
          </a:prstGeom>
        </p:spPr>
        <p:txBody>
          <a:bodyPr vert="horz" wrap="square" lIns="91440" tIns="45720" rIns="91440" bIns="45720" numCol="1" anchor="ctr" anchorCtr="1" compatLnSpc="1"/>
          <a:lstStyle>
            <a:lvl1pPr algn="ctr">
              <a:defRPr sz="750">
                <a:solidFill>
                  <a:srgbClr val="4C6C9C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cs typeface="Arial" panose="020B0604020202020204" pitchFamily="34" charset="0"/>
                <a:sym typeface="Arial" panose="020B0604020202020204" pitchFamily="34" charset="0"/>
              </a:rPr>
              <a:t>版权所有</a:t>
            </a:r>
            <a:r>
              <a:rPr lang="en-US" altLang="zh-CN" dirty="0">
                <a:cs typeface="Arial" panose="020B0604020202020204" pitchFamily="34" charset="0"/>
                <a:sym typeface="Arial" panose="020B0604020202020204" pitchFamily="34" charset="0"/>
              </a:rPr>
              <a:t>©</a:t>
            </a:r>
            <a:r>
              <a:rPr lang="zh-CN" altLang="en-US" dirty="0">
                <a:cs typeface="Arial" panose="020B0604020202020204" pitchFamily="34" charset="0"/>
                <a:sym typeface="Arial" panose="020B0604020202020204" pitchFamily="34" charset="0"/>
              </a:rPr>
              <a:t>亚威投资</a:t>
            </a:r>
            <a:r>
              <a:rPr lang="en-US" altLang="zh-CN" dirty="0">
                <a:cs typeface="Arial" panose="020B0604020202020204" pitchFamily="34" charset="0"/>
                <a:sym typeface="Arial" panose="020B0604020202020204" pitchFamily="34" charset="0"/>
              </a:rPr>
              <a:t>Since2019</a:t>
            </a:r>
            <a:endParaRPr lang="zh-CN" altLang="en-US" dirty="0"/>
          </a:p>
        </p:txBody>
      </p:sp>
      <p:sp>
        <p:nvSpPr>
          <p:cNvPr id="33" name="矩形 32"/>
          <p:cNvSpPr/>
          <p:nvPr userDrawn="1"/>
        </p:nvSpPr>
        <p:spPr>
          <a:xfrm>
            <a:off x="1" y="6523545"/>
            <a:ext cx="9144001" cy="10800"/>
          </a:xfrm>
          <a:prstGeom prst="rect">
            <a:avLst/>
          </a:prstGeom>
          <a:solidFill>
            <a:srgbClr val="4C6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4C6C9C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직사각형 45"/>
          <p:cNvSpPr/>
          <p:nvPr userDrawn="1"/>
        </p:nvSpPr>
        <p:spPr>
          <a:xfrm>
            <a:off x="413539" y="1050480"/>
            <a:ext cx="8316923" cy="45719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350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7306666" y="382923"/>
            <a:ext cx="1423796" cy="564458"/>
          </a:xfrm>
          <a:prstGeom prst="rect">
            <a:avLst/>
          </a:prstGeom>
          <a:solidFill>
            <a:srgbClr val="3399FF"/>
          </a:solidFill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825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江苏疌泉亚威沣盈</a:t>
            </a:r>
            <a:endParaRPr lang="en-US" altLang="zh-CN" sz="825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825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智能制造产业基金</a:t>
            </a:r>
          </a:p>
        </p:txBody>
      </p:sp>
      <p:sp>
        <p:nvSpPr>
          <p:cNvPr id="11" name="Text Box 87"/>
          <p:cNvSpPr txBox="1">
            <a:spLocks noChangeArrowheads="1"/>
          </p:cNvSpPr>
          <p:nvPr userDrawn="1"/>
        </p:nvSpPr>
        <p:spPr bwMode="auto">
          <a:xfrm>
            <a:off x="8234065" y="6525344"/>
            <a:ext cx="65841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altLang="zh-CN" sz="105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fld id="{7DA0D9ED-5DA3-42CE-9648-5CCE48D735C1}" type="slidenum">
              <a:rPr lang="de-DE" altLang="zh-CN" sz="105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de-DE" altLang="zh-CN" sz="10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591782"/>
            <a:ext cx="9144001" cy="266217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 userDrawn="1"/>
        </p:nvSpPr>
        <p:spPr>
          <a:xfrm>
            <a:off x="0" y="6525512"/>
            <a:ext cx="9144001" cy="65999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t>2025-06-24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A0EC218E-8EAB-4D99-88AA-92B2A4171808}"/>
              </a:ext>
            </a:extLst>
          </p:cNvPr>
          <p:cNvSpPr/>
          <p:nvPr userDrawn="1"/>
        </p:nvSpPr>
        <p:spPr>
          <a:xfrm>
            <a:off x="0" y="849333"/>
            <a:ext cx="9144001" cy="45719"/>
          </a:xfrm>
          <a:prstGeom prst="rect">
            <a:avLst/>
          </a:prstGeom>
          <a:solidFill>
            <a:srgbClr val="0064D2"/>
          </a:solidFill>
          <a:ln>
            <a:solidFill>
              <a:srgbClr val="006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8" r:id="rId6"/>
    <p:sldLayoutId id="2147483661" r:id="rId7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D807CF-710F-15E4-8F6D-60C399409127}"/>
              </a:ext>
            </a:extLst>
          </p:cNvPr>
          <p:cNvSpPr txBox="1"/>
          <p:nvPr/>
        </p:nvSpPr>
        <p:spPr>
          <a:xfrm>
            <a:off x="306766" y="1162173"/>
            <a:ext cx="4426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250623 : </a:t>
            </a:r>
          </a:p>
          <a:p>
            <a:pPr marL="285750" indent="-285750">
              <a:buFontTx/>
              <a:buChar char="-"/>
            </a:pPr>
            <a:r>
              <a:rPr lang="en-US" altLang="zh-CN" dirty="0">
                <a:solidFill>
                  <a:srgbClr val="0000FF"/>
                </a:solidFill>
              </a:rPr>
              <a:t>Mod, </a:t>
            </a:r>
            <a:r>
              <a:rPr lang="en-US" altLang="zh-CN" dirty="0" err="1">
                <a:solidFill>
                  <a:srgbClr val="0000FF"/>
                </a:solidFill>
              </a:rPr>
              <a:t>PdoAllSts</a:t>
            </a:r>
            <a:r>
              <a:rPr lang="en-US" altLang="zh-CN" dirty="0">
                <a:solidFill>
                  <a:srgbClr val="0000FF"/>
                </a:solidFill>
              </a:rPr>
              <a:t> &amp; </a:t>
            </a:r>
            <a:r>
              <a:rPr lang="en-US" altLang="zh-CN" dirty="0" err="1">
                <a:solidFill>
                  <a:srgbClr val="0000FF"/>
                </a:solidFill>
              </a:rPr>
              <a:t>PdoCmd</a:t>
            </a:r>
            <a:r>
              <a:rPr lang="en-US" altLang="zh-CN" dirty="0">
                <a:solidFill>
                  <a:srgbClr val="0000FF"/>
                </a:solidFill>
              </a:rPr>
              <a:t> for Motor CTRL</a:t>
            </a:r>
          </a:p>
        </p:txBody>
      </p:sp>
    </p:spTree>
    <p:extLst>
      <p:ext uri="{BB962C8B-B14F-4D97-AF65-F5344CB8AC3E}">
        <p14:creationId xmlns:p14="http://schemas.microsoft.com/office/powerpoint/2010/main" val="172502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F5F0607-F639-85E7-962F-AE718D1BC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603196"/>
              </p:ext>
            </p:extLst>
          </p:nvPr>
        </p:nvGraphicFramePr>
        <p:xfrm>
          <a:off x="157397" y="1133147"/>
          <a:ext cx="5655352" cy="4892040"/>
        </p:xfrm>
        <a:graphic>
          <a:graphicData uri="http://schemas.openxmlformats.org/drawingml/2006/table">
            <a:tbl>
              <a:tblPr/>
              <a:tblGrid>
                <a:gridCol w="361460">
                  <a:extLst>
                    <a:ext uri="{9D8B030D-6E8A-4147-A177-3AD203B41FA5}">
                      <a16:colId xmlns:a16="http://schemas.microsoft.com/office/drawing/2014/main" val="3517171689"/>
                    </a:ext>
                  </a:extLst>
                </a:gridCol>
                <a:gridCol w="1323141">
                  <a:extLst>
                    <a:ext uri="{9D8B030D-6E8A-4147-A177-3AD203B41FA5}">
                      <a16:colId xmlns:a16="http://schemas.microsoft.com/office/drawing/2014/main" val="3013122934"/>
                    </a:ext>
                  </a:extLst>
                </a:gridCol>
                <a:gridCol w="859907">
                  <a:extLst>
                    <a:ext uri="{9D8B030D-6E8A-4147-A177-3AD203B41FA5}">
                      <a16:colId xmlns:a16="http://schemas.microsoft.com/office/drawing/2014/main" val="2837009262"/>
                    </a:ext>
                  </a:extLst>
                </a:gridCol>
                <a:gridCol w="613532">
                  <a:extLst>
                    <a:ext uri="{9D8B030D-6E8A-4147-A177-3AD203B41FA5}">
                      <a16:colId xmlns:a16="http://schemas.microsoft.com/office/drawing/2014/main" val="1235535140"/>
                    </a:ext>
                  </a:extLst>
                </a:gridCol>
                <a:gridCol w="1020589">
                  <a:extLst>
                    <a:ext uri="{9D8B030D-6E8A-4147-A177-3AD203B41FA5}">
                      <a16:colId xmlns:a16="http://schemas.microsoft.com/office/drawing/2014/main" val="3609669544"/>
                    </a:ext>
                  </a:extLst>
                </a:gridCol>
                <a:gridCol w="1476723">
                  <a:extLst>
                    <a:ext uri="{9D8B030D-6E8A-4147-A177-3AD203B41FA5}">
                      <a16:colId xmlns:a16="http://schemas.microsoft.com/office/drawing/2014/main" val="1800636981"/>
                    </a:ext>
                  </a:extLst>
                </a:gridCol>
              </a:tblGrid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Type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 / 1EA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Bytes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09627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FAN Tach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545380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CUR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8227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BL 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82817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DIMM 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672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TCON-N.SV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0677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TCON-N.PV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881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TCON-MV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4811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TCON-CH.STS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21336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TCON-ALM.STS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143829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01477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TCON-TUNING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245223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COOLER-N.PV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0061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808738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GPIO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95349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H.SENSOR.HUM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Signed Int, Unit : 0.1%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820436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H.SENSOR.TEMP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Signed Int, Unit : 0.1C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684294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HI.LIMIT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857715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LO.LIMIT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0218"/>
                  </a:ext>
                </a:extLst>
              </a:tr>
              <a:tr h="1247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CBOX.CONTACT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4-bit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787098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MOTOR.LOCK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217233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1-bit Active HIGH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580021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MOTOR.DIR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 for DN, 1 for UP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02093"/>
                  </a:ext>
                </a:extLst>
              </a:tr>
              <a:tr h="7609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MOTOR.RUN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</a:rPr>
                        <a:t>0 for Stop, 1 for Auto, 2 for Manual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040755"/>
                  </a:ext>
                </a:extLst>
              </a:tr>
              <a:tr h="9435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307 + 23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097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F38B04E-D30B-AECA-3665-8E7AE9B598C2}"/>
              </a:ext>
            </a:extLst>
          </p:cNvPr>
          <p:cNvSpPr txBox="1"/>
          <p:nvPr/>
        </p:nvSpPr>
        <p:spPr>
          <a:xfrm>
            <a:off x="5812749" y="1032858"/>
            <a:ext cx="31738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PDO.All.Sts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습도 온도 </a:t>
            </a:r>
            <a:r>
              <a:rPr lang="en-US" altLang="ko-KR" sz="1400" dirty="0"/>
              <a:t>: ( 2B + 2B ) x4 = 16Byte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Hi Limit / Lo Limit : 1B + 1B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Cbox</a:t>
            </a:r>
            <a:r>
              <a:rPr lang="en-US" altLang="ko-KR" sz="1400" dirty="0"/>
              <a:t> Contact Check : 1B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Motor.Sts</a:t>
            </a:r>
            <a:r>
              <a:rPr lang="en-US" altLang="ko-KR" sz="1400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En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Lock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DIR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RUN / STOP</a:t>
            </a: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BAF41AE7-01D7-9DEC-2410-9218D7D733E8}"/>
              </a:ext>
            </a:extLst>
          </p:cNvPr>
          <p:cNvSpPr txBox="1"/>
          <p:nvPr/>
        </p:nvSpPr>
        <p:spPr>
          <a:xfrm>
            <a:off x="261258" y="249382"/>
            <a:ext cx="2174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PDO : All Status</a:t>
            </a:r>
            <a:endParaRPr lang="zh-CN" alt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FD748B-9934-3C6D-BFC9-48AF55D97AEA}"/>
              </a:ext>
            </a:extLst>
          </p:cNvPr>
          <p:cNvSpPr txBox="1"/>
          <p:nvPr/>
        </p:nvSpPr>
        <p:spPr>
          <a:xfrm>
            <a:off x="5970147" y="3376814"/>
            <a:ext cx="31738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모터 </a:t>
            </a:r>
            <a:r>
              <a:rPr lang="en-US" altLang="ko-KR" sz="1400" dirty="0"/>
              <a:t>Down</a:t>
            </a:r>
            <a:r>
              <a:rPr lang="ko-KR" altLang="en-US" sz="1400" dirty="0"/>
              <a:t> </a:t>
            </a:r>
            <a:r>
              <a:rPr lang="en-US" altLang="ko-KR" sz="1400" dirty="0"/>
              <a:t>Stop</a:t>
            </a:r>
            <a:r>
              <a:rPr lang="ko-KR" altLang="en-US" sz="1400" dirty="0"/>
              <a:t> 상황</a:t>
            </a:r>
            <a:endParaRPr lang="en-US" altLang="ko-KR" sz="1400" dirty="0"/>
          </a:p>
          <a:p>
            <a:r>
              <a:rPr lang="en-US" altLang="ko-KR" sz="1400" dirty="0"/>
              <a:t>-LO.LIMT </a:t>
            </a:r>
          </a:p>
          <a:p>
            <a:r>
              <a:rPr lang="en-US" altLang="ko-KR" sz="1400" dirty="0"/>
              <a:t>-MAX STEP Count</a:t>
            </a:r>
          </a:p>
          <a:p>
            <a:r>
              <a:rPr lang="en-US" altLang="ko-KR" sz="1400" dirty="0"/>
              <a:t>-CBOX.CONTACT OK </a:t>
            </a:r>
          </a:p>
        </p:txBody>
      </p:sp>
    </p:spTree>
    <p:extLst>
      <p:ext uri="{BB962C8B-B14F-4D97-AF65-F5344CB8AC3E}">
        <p14:creationId xmlns:p14="http://schemas.microsoft.com/office/powerpoint/2010/main" val="292766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57456-DB1C-C5AB-8866-1B0191E0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2">
            <a:extLst>
              <a:ext uri="{FF2B5EF4-FFF2-40B4-BE49-F238E27FC236}">
                <a16:creationId xmlns:a16="http://schemas.microsoft.com/office/drawing/2014/main" id="{C2E89FF9-B182-74C6-E7BD-190060326E11}"/>
              </a:ext>
            </a:extLst>
          </p:cNvPr>
          <p:cNvSpPr txBox="1"/>
          <p:nvPr/>
        </p:nvSpPr>
        <p:spPr>
          <a:xfrm>
            <a:off x="261258" y="249382"/>
            <a:ext cx="5114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PDO : Pre-Defined Operation [ MMTC ]</a:t>
            </a:r>
            <a:endParaRPr lang="zh-CN" altLang="en-US" sz="2400" b="1" dirty="0"/>
          </a:p>
        </p:txBody>
      </p:sp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F4DA03B1-E7B7-B341-C864-6C5D82830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195181"/>
              </p:ext>
            </p:extLst>
          </p:nvPr>
        </p:nvGraphicFramePr>
        <p:xfrm>
          <a:off x="130175" y="963080"/>
          <a:ext cx="888365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920">
                  <a:extLst>
                    <a:ext uri="{9D8B030D-6E8A-4147-A177-3AD203B41FA5}">
                      <a16:colId xmlns:a16="http://schemas.microsoft.com/office/drawing/2014/main" val="4259803785"/>
                    </a:ext>
                  </a:extLst>
                </a:gridCol>
                <a:gridCol w="969780">
                  <a:extLst>
                    <a:ext uri="{9D8B030D-6E8A-4147-A177-3AD203B41FA5}">
                      <a16:colId xmlns:a16="http://schemas.microsoft.com/office/drawing/2014/main" val="1963237371"/>
                    </a:ext>
                  </a:extLst>
                </a:gridCol>
                <a:gridCol w="831809">
                  <a:extLst>
                    <a:ext uri="{9D8B030D-6E8A-4147-A177-3AD203B41FA5}">
                      <a16:colId xmlns:a16="http://schemas.microsoft.com/office/drawing/2014/main" val="874681830"/>
                    </a:ext>
                  </a:extLst>
                </a:gridCol>
                <a:gridCol w="696124">
                  <a:extLst>
                    <a:ext uri="{9D8B030D-6E8A-4147-A177-3AD203B41FA5}">
                      <a16:colId xmlns:a16="http://schemas.microsoft.com/office/drawing/2014/main" val="73204278"/>
                    </a:ext>
                  </a:extLst>
                </a:gridCol>
                <a:gridCol w="3814651">
                  <a:extLst>
                    <a:ext uri="{9D8B030D-6E8A-4147-A177-3AD203B41FA5}">
                      <a16:colId xmlns:a16="http://schemas.microsoft.com/office/drawing/2014/main" val="4093347874"/>
                    </a:ext>
                  </a:extLst>
                </a:gridCol>
                <a:gridCol w="1612366">
                  <a:extLst>
                    <a:ext uri="{9D8B030D-6E8A-4147-A177-3AD203B41FA5}">
                      <a16:colId xmlns:a16="http://schemas.microsoft.com/office/drawing/2014/main" val="1705473538"/>
                    </a:ext>
                  </a:extLst>
                </a:gridCol>
              </a:tblGrid>
              <a:tr h="1256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Type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Channel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Address</a:t>
                      </a:r>
                      <a:endParaRPr lang="zh-CN" altLang="en-US" sz="11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Function ( Code / Description )</a:t>
                      </a:r>
                      <a:endParaRPr lang="zh-CN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Data</a:t>
                      </a:r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48452"/>
                  </a:ext>
                </a:extLst>
              </a:tr>
              <a:tr h="131424">
                <a:tc rowSpan="9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HI/LO LIMIT POLARITY : 0 - default / 1-Inv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743440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CBOX CONTACT POLARITY : 0 - default / 1-Inv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20130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DIRECTION POLARITY : 0 - default / 1-Inv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483493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STEPPING FREQ : default – 100,000 for 100us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397111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STEPPING MAX COUNT : default - 55000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141059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AUTO(MANUAL) CTRL : 0 – Stop, 1 – Up, 2 –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1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91732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MANUAL UP : 0 – default AUTO / 1 ~ for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659606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0xFF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0x00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0x52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MOTOR MANUAL DOWN : 0 – default AUTO / 1 ~ for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solidFill>
                            <a:srgbClr val="FF0000"/>
                          </a:solidFill>
                        </a:rPr>
                        <a:t>4 Byte</a:t>
                      </a: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991856"/>
                  </a:ext>
                </a:extLst>
              </a:tr>
              <a:tr h="131424">
                <a:tc vMerge="1">
                  <a:txBody>
                    <a:bodyPr/>
                    <a:lstStyle/>
                    <a:p>
                      <a:pPr algn="ctr"/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546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72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78C9-338C-17A3-3F8D-41726551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12257-3470-BE32-AA9E-6705B7D2C114}"/>
              </a:ext>
            </a:extLst>
          </p:cNvPr>
          <p:cNvSpPr txBox="1"/>
          <p:nvPr/>
        </p:nvSpPr>
        <p:spPr>
          <a:xfrm>
            <a:off x="3692644" y="2895261"/>
            <a:ext cx="2218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Appendix</a:t>
            </a:r>
            <a:endParaRPr lang="en-US" altLang="ko-KR" sz="40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4203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5C5629-A6EF-391E-65CD-C1848408E58E}"/>
              </a:ext>
            </a:extLst>
          </p:cNvPr>
          <p:cNvSpPr txBox="1"/>
          <p:nvPr/>
        </p:nvSpPr>
        <p:spPr>
          <a:xfrm>
            <a:off x="100289" y="954372"/>
            <a:ext cx="5026954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CON1 :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BL#_ST </a:t>
            </a:r>
            <a:r>
              <a:rPr lang="en-US" altLang="ko-KR" sz="1400" dirty="0">
                <a:sym typeface="Wingdings" panose="05000000000000000000" pitchFamily="2" charset="2"/>
              </a:rPr>
              <a:t> EX_GPO_# : MT_EN, MT_LOCK, MT_PULSE, MT_DIR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DIR : Up/</a:t>
            </a:r>
            <a:r>
              <a:rPr lang="en-US" altLang="ko-KR" sz="1400" dirty="0" err="1">
                <a:sym typeface="Wingdings" panose="05000000000000000000" pitchFamily="2" charset="2"/>
              </a:rPr>
              <a:t>Dn</a:t>
            </a:r>
            <a:r>
              <a:rPr lang="en-US" altLang="ko-KR" sz="1400" dirty="0">
                <a:sym typeface="Wingdings" panose="05000000000000000000" pitchFamily="2" charset="2"/>
              </a:rPr>
              <a:t> Polarity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PULSE : Stepping Freq</a:t>
            </a:r>
          </a:p>
          <a:p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400" dirty="0">
                <a:sym typeface="Wingdings" panose="05000000000000000000" pitchFamily="2" charset="2"/>
              </a:rPr>
              <a:t>CON2 :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HUM_SIO_#   </a:t>
            </a:r>
            <a:r>
              <a:rPr lang="en-US" altLang="ko-KR" sz="1400" dirty="0" err="1">
                <a:sym typeface="Wingdings" panose="05000000000000000000" pitchFamily="2" charset="2"/>
              </a:rPr>
              <a:t>PDO.All.Sts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CB_CC_# : Tape switch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EX_GPI#_IN : Photo Coupler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>
                <a:sym typeface="Wingdings" panose="05000000000000000000" pitchFamily="2" charset="2"/>
              </a:rPr>
              <a:t>Sts</a:t>
            </a:r>
            <a:r>
              <a:rPr lang="en-US" altLang="ko-KR" sz="1400" dirty="0">
                <a:sym typeface="Wingdings" panose="05000000000000000000" pitchFamily="2" charset="2"/>
              </a:rPr>
              <a:t> Polarity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6C249A-1B85-4A0D-36A6-4EC18BB4D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607" y="2165063"/>
            <a:ext cx="3321566" cy="21940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B5929B-BCDC-F290-591F-FFE6547D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645" y="4804030"/>
            <a:ext cx="3863880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8E08F-5278-42B4-90AD-C095608D786B}"/>
              </a:ext>
            </a:extLst>
          </p:cNvPr>
          <p:cNvSpPr txBox="1"/>
          <p:nvPr/>
        </p:nvSpPr>
        <p:spPr>
          <a:xfrm>
            <a:off x="106188" y="978740"/>
            <a:ext cx="31738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PDO.All.Sts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습도 온도 </a:t>
            </a:r>
            <a:r>
              <a:rPr lang="en-US" altLang="ko-KR" sz="1400" dirty="0"/>
              <a:t>: ( 2B + 2B ) x4 = 16Byte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Hi Limit / Lo Limit : 1B + 1B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Cbox</a:t>
            </a:r>
            <a:r>
              <a:rPr lang="en-US" altLang="ko-KR" sz="1400" dirty="0"/>
              <a:t> Contact Check : 1B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Motor.Sts</a:t>
            </a:r>
            <a:r>
              <a:rPr lang="en-US" altLang="ko-KR" sz="1400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En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Lock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DIR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RUN / STOP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58A617-BC17-9C4D-A435-B55193CA1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058" y="5012947"/>
            <a:ext cx="4908263" cy="16795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C6769-4B1B-E501-4F6F-6671FB2214ED}"/>
              </a:ext>
            </a:extLst>
          </p:cNvPr>
          <p:cNvSpPr txBox="1"/>
          <p:nvPr/>
        </p:nvSpPr>
        <p:spPr>
          <a:xfrm>
            <a:off x="106188" y="3225411"/>
            <a:ext cx="383556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PDO.Motor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Hi/Lo Polarity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Cbox</a:t>
            </a:r>
            <a:r>
              <a:rPr lang="en-US" altLang="ko-KR" sz="1400" dirty="0"/>
              <a:t> Contact Check Polarity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Motor.Dir</a:t>
            </a:r>
            <a:r>
              <a:rPr lang="en-US" altLang="ko-KR" sz="1400" dirty="0"/>
              <a:t> Polarity for DIR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Stepping Freq ( 100us, 10KHz ) : 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100us * 2000 = 1 </a:t>
            </a:r>
            <a:r>
              <a:rPr lang="en-US" altLang="ko-KR" sz="1400" dirty="0" err="1"/>
              <a:t>stepCnt</a:t>
            </a:r>
            <a:r>
              <a:rPr lang="en-US" altLang="ko-KR" sz="1400" dirty="0"/>
              <a:t> ???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Up/</a:t>
            </a:r>
            <a:r>
              <a:rPr lang="en-US" altLang="ko-KR" sz="1400" dirty="0" err="1"/>
              <a:t>Dn</a:t>
            </a:r>
            <a:r>
              <a:rPr lang="en-US" altLang="ko-KR" sz="1400" dirty="0"/>
              <a:t> limit check ???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MaxStepCnt</a:t>
            </a:r>
            <a:r>
              <a:rPr lang="en-US" altLang="ko-KR" sz="1400" dirty="0"/>
              <a:t> = 55000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Motor.Ctrl</a:t>
            </a:r>
            <a:r>
              <a:rPr lang="en-US" altLang="ko-KR" sz="1400" dirty="0"/>
              <a:t> : 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Auto : Up, Down, Stop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Manual : Stepping number w/ Up/</a:t>
            </a:r>
            <a:r>
              <a:rPr lang="en-US" altLang="ko-KR" sz="1400" dirty="0" err="1"/>
              <a:t>Dn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837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E67830C-4D4D-E48C-CE95-394211A2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3" y="424752"/>
            <a:ext cx="5734134" cy="31443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609928A-2237-9C19-339D-09551CE65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473" y="2985074"/>
            <a:ext cx="5421734" cy="377348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03DE5D2-F68C-21DB-2A75-316152119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3" y="4341925"/>
            <a:ext cx="3963465" cy="241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5683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194365</TotalTime>
  <Words>588</Words>
  <Application>Microsoft Office PowerPoint</Application>
  <PresentationFormat>화면 슬라이드 쇼(4:3)</PresentationFormat>
  <Paragraphs>221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等线</vt:lpstr>
      <vt:lpstr>微软雅黑</vt:lpstr>
      <vt:lpstr>맑은 고딕</vt:lpstr>
      <vt:lpstr>Arial</vt:lpstr>
      <vt:lpstr>Calibri</vt:lpstr>
      <vt:lpstr>Calibri Light</vt:lpstr>
      <vt:lpstr>Times New Roman</vt:lpstr>
      <vt:lpstr>추억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bin.yun</dc:creator>
  <cp:lastModifiedBy>유 효상</cp:lastModifiedBy>
  <cp:revision>2609</cp:revision>
  <cp:lastPrinted>2023-02-15T04:18:15Z</cp:lastPrinted>
  <dcterms:created xsi:type="dcterms:W3CDTF">2016-08-24T05:21:00Z</dcterms:created>
  <dcterms:modified xsi:type="dcterms:W3CDTF">2025-06-26T06:44:33Z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48971BBE424B400A8C422FCF6E0A8E61</vt:lpwstr>
  </property>
  <property fmtid="{D5CDD505-2E9C-101B-9397-08002B2CF9AE}" pid="3" name="KSOProductBuildVer">
    <vt:lpwstr>2052-11.1.0.10463</vt:lpwstr>
  </property>
</Properties>
</file>