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642" r:id="rId2"/>
    <p:sldId id="660" r:id="rId3"/>
    <p:sldId id="666" r:id="rId4"/>
    <p:sldId id="661" r:id="rId5"/>
    <p:sldId id="650" r:id="rId6"/>
    <p:sldId id="662" r:id="rId7"/>
    <p:sldId id="654" r:id="rId8"/>
    <p:sldId id="652" r:id="rId9"/>
    <p:sldId id="655" r:id="rId10"/>
    <p:sldId id="656" r:id="rId11"/>
    <p:sldId id="658" r:id="rId12"/>
    <p:sldId id="665" r:id="rId13"/>
    <p:sldId id="659" r:id="rId14"/>
    <p:sldId id="670" r:id="rId15"/>
    <p:sldId id="664" r:id="rId16"/>
    <p:sldId id="668" r:id="rId17"/>
    <p:sldId id="669" r:id="rId18"/>
    <p:sldId id="667" r:id="rId19"/>
  </p:sldIdLst>
  <p:sldSz cx="9144000" cy="6858000" type="screen4x3"/>
  <p:notesSz cx="6794500" cy="9931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239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lden Yuan" initials="HY" lastIdx="6" clrIdx="0"/>
  <p:cmAuthor id="1" name="X1C" initials="X" lastIdx="1" clrIdx="1"/>
  <p:cmAuthor id="2" name="Edward Fairfax deRochester" initials="Rochester" lastIdx="1" clrIdx="2"/>
  <p:cmAuthor id="3" name="Robin" initials="Robin" lastIdx="1" clrIdx="3"/>
  <p:cmAuthor id="4" name="weikang li" initials="wl" lastIdx="2" clrIdx="4"/>
  <p:cmAuthor id="5" name="mini Arhat" initials="mA" lastIdx="1" clrIdx="5"/>
  <p:cmAuthor id="6" name="zxd" initials="zxd" lastIdx="2" clrIdx="5"/>
  <p:cmAuthor id="7" name="Ash" initials="A" lastIdx="6" clrIdx="6"/>
  <p:cmAuthor id="8" name="Alex Li Yang" initials="ALY" lastIdx="30" clrIdx="7"/>
  <p:cmAuthor id="9" name="扈益嘉" initials="huyijia" lastIdx="2" clrIdx="8"/>
  <p:cmAuthor id="10" name="胡建伟" initials="胡建伟" lastIdx="1" clrIdx="9"/>
  <p:cmAuthor id="11" name="Yiran Lai" initials="YL" lastIdx="18" clrIdx="10"/>
  <p:cmAuthor id="12" name="SUPERPETER YOUNG" initials="SY" lastIdx="1" clrIdx="11"/>
  <p:cmAuthor id="13" name="mac" initials="m" lastIdx="19" clrIdx="12"/>
  <p:cmAuthor id="15" name="sony" initials="s" lastIdx="5" clrIdx="14"/>
  <p:cmAuthor id="16" name="cai dan" initials="cd" lastIdx="1" clrIdx="15"/>
  <p:cmAuthor id="17" name="seven zhang" initials="sz" lastIdx="1" clrIdx="16"/>
  <p:cmAuthor id="18" name="xinyi tong" initials="xt" lastIdx="14" clrIdx="17"/>
  <p:cmAuthor id="19" name="Shuwen Zhang" initials="S" lastIdx="5" clrIdx="18"/>
  <p:cmAuthor id="20" name="YA QI" initials="YQ" lastIdx="1" clrIdx="1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FF"/>
    <a:srgbClr val="FF0066"/>
    <a:srgbClr val="8CA0FC"/>
    <a:srgbClr val="6E9FFD"/>
    <a:srgbClr val="E1DFE5"/>
    <a:srgbClr val="4A9FFC"/>
    <a:srgbClr val="B4A0FC"/>
    <a:srgbClr val="0064D2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280" autoAdjust="0"/>
  </p:normalViewPr>
  <p:slideViewPr>
    <p:cSldViewPr snapToGrid="0">
      <p:cViewPr varScale="1">
        <p:scale>
          <a:sx n="121" d="100"/>
          <a:sy n="121" d="100"/>
        </p:scale>
        <p:origin x="96" y="942"/>
      </p:cViewPr>
      <p:guideLst>
        <p:guide pos="2880"/>
        <p:guide orient="horz" pos="23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4" cy="498295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644" y="0"/>
            <a:ext cx="2944284" cy="498295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2550AF3B-A958-4092-AC1D-35578171D28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1241425"/>
            <a:ext cx="4470400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9487"/>
            <a:ext cx="5435600" cy="3910489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3109"/>
            <a:ext cx="2944284" cy="49829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644" y="9433109"/>
            <a:ext cx="2944284" cy="49829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E851B1AB-84D4-4BC4-9376-845D36F0432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25038" y="4908489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51A936A-6E7E-47F9-814A-CD54A9ECD4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1166" y="345765"/>
            <a:ext cx="1199014" cy="4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40" y="1845736"/>
            <a:ext cx="3703320" cy="402335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8AB9E7-FA24-41CD-8A40-CBF8522D73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1166" y="345765"/>
            <a:ext cx="1199014" cy="4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2296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6344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009ECD7-42EC-4B0F-85A7-6C5162668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1166" y="345765"/>
            <a:ext cx="1199014" cy="4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2960" y="213128"/>
            <a:ext cx="7543800" cy="1450757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CCC088-F717-4614-BA61-EA8C81D55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1166" y="345765"/>
            <a:ext cx="1199014" cy="4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3539" y="404664"/>
            <a:ext cx="6912767" cy="601985"/>
          </a:xfrm>
          <a:prstGeom prst="rect">
            <a:avLst/>
          </a:prstGeom>
        </p:spPr>
        <p:txBody>
          <a:bodyPr anchor="ctr" anchorCtr="0"/>
          <a:lstStyle>
            <a:lvl1pPr>
              <a:defRPr sz="165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3539" y="1210643"/>
            <a:ext cx="8316924" cy="778495"/>
          </a:xfrm>
          <a:prstGeom prst="rect">
            <a:avLst/>
          </a:prstGeom>
        </p:spPr>
        <p:txBody>
          <a:bodyPr/>
          <a:lstStyle>
            <a:lvl1pPr algn="l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Tx/>
              <a:buNone/>
              <a:defRPr sz="1350" b="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buClr>
                <a:srgbClr val="C00000"/>
              </a:buClr>
              <a:buFontTx/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buClr>
                <a:srgbClr val="C00000"/>
              </a:buClr>
              <a:buFontTx/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buClr>
                <a:srgbClr val="C00000"/>
              </a:buClr>
              <a:buFontTx/>
              <a:buNone/>
              <a:defRPr sz="900">
                <a:solidFill>
                  <a:schemeClr val="tx2"/>
                </a:solidFill>
                <a:latin typeface="Times New Roman" panose="02020603050405020304" pitchFamily="18" charset="0"/>
                <a:ea typeface="幼圆" pitchFamily="49" charset="-122"/>
                <a:cs typeface="Times New Roman" panose="02020603050405020304" pitchFamily="18" charset="0"/>
              </a:defRPr>
            </a:lvl4pPr>
            <a:lvl5pPr>
              <a:buClr>
                <a:srgbClr val="C00000"/>
              </a:buClr>
              <a:buFontTx/>
              <a:buNone/>
              <a:defRPr sz="9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1" name="日期占位符 1"/>
          <p:cNvSpPr>
            <a:spLocks noGrp="1"/>
          </p:cNvSpPr>
          <p:nvPr>
            <p:ph type="dt" sz="half" idx="2"/>
          </p:nvPr>
        </p:nvSpPr>
        <p:spPr>
          <a:xfrm>
            <a:off x="0" y="6610351"/>
            <a:ext cx="2133600" cy="225425"/>
          </a:xfrm>
          <a:prstGeom prst="rect">
            <a:avLst/>
          </a:prstGeom>
        </p:spPr>
        <p:txBody>
          <a:bodyPr vert="horz" wrap="square" lIns="91440" tIns="45720" rIns="91440" bIns="45720" numCol="1" anchor="ctr" anchorCtr="1" compatLnSpc="1"/>
          <a:lstStyle>
            <a:lvl1pPr algn="ctr">
              <a:defRPr sz="750">
                <a:solidFill>
                  <a:srgbClr val="4C6C9C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74B7A26-8A9B-44C9-90FD-417C0133DD51}" type="datetime1">
              <a:rPr lang="zh-CN" altLang="en-US" smtClean="0"/>
              <a:t>2023/8/16</a:t>
            </a:fld>
            <a:endParaRPr lang="zh-CN" altLang="en-US" dirty="0"/>
          </a:p>
        </p:txBody>
      </p:sp>
      <p:sp>
        <p:nvSpPr>
          <p:cNvPr id="3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6610351"/>
            <a:ext cx="2895600" cy="225425"/>
          </a:xfrm>
          <a:prstGeom prst="rect">
            <a:avLst/>
          </a:prstGeom>
        </p:spPr>
        <p:txBody>
          <a:bodyPr vert="horz" wrap="square" lIns="91440" tIns="45720" rIns="91440" bIns="45720" numCol="1" anchor="ctr" anchorCtr="1" compatLnSpc="1"/>
          <a:lstStyle>
            <a:lvl1pPr algn="ctr">
              <a:defRPr sz="750">
                <a:solidFill>
                  <a:srgbClr val="4C6C9C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cs typeface="Arial" panose="020B0604020202020204" pitchFamily="34" charset="0"/>
                <a:sym typeface="Arial" panose="020B0604020202020204" pitchFamily="34" charset="0"/>
              </a:rPr>
              <a:t>版权所有</a:t>
            </a:r>
            <a:r>
              <a:rPr lang="en-US" altLang="zh-CN" dirty="0">
                <a:cs typeface="Arial" panose="020B0604020202020204" pitchFamily="34" charset="0"/>
                <a:sym typeface="Arial" panose="020B0604020202020204" pitchFamily="34" charset="0"/>
              </a:rPr>
              <a:t>©</a:t>
            </a:r>
            <a:r>
              <a:rPr lang="zh-CN" altLang="en-US" dirty="0">
                <a:cs typeface="Arial" panose="020B0604020202020204" pitchFamily="34" charset="0"/>
                <a:sym typeface="Arial" panose="020B0604020202020204" pitchFamily="34" charset="0"/>
              </a:rPr>
              <a:t>亚威投资</a:t>
            </a:r>
            <a:r>
              <a:rPr lang="en-US" altLang="zh-CN" dirty="0">
                <a:cs typeface="Arial" panose="020B0604020202020204" pitchFamily="34" charset="0"/>
                <a:sym typeface="Arial" panose="020B0604020202020204" pitchFamily="34" charset="0"/>
              </a:rPr>
              <a:t>Since2019</a:t>
            </a:r>
            <a:endParaRPr lang="zh-CN" altLang="en-US" dirty="0"/>
          </a:p>
        </p:txBody>
      </p:sp>
      <p:sp>
        <p:nvSpPr>
          <p:cNvPr id="33" name="矩形 32"/>
          <p:cNvSpPr/>
          <p:nvPr userDrawn="1"/>
        </p:nvSpPr>
        <p:spPr>
          <a:xfrm>
            <a:off x="1" y="6523545"/>
            <a:ext cx="9144001" cy="10800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4C6C9C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직사각형 45"/>
          <p:cNvSpPr/>
          <p:nvPr userDrawn="1"/>
        </p:nvSpPr>
        <p:spPr>
          <a:xfrm>
            <a:off x="413539" y="1050480"/>
            <a:ext cx="8316923" cy="45719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7306666" y="382923"/>
            <a:ext cx="1423796" cy="564458"/>
          </a:xfrm>
          <a:prstGeom prst="rect">
            <a:avLst/>
          </a:prstGeom>
          <a:solidFill>
            <a:srgbClr val="3399FF"/>
          </a:solidFill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825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江苏疌泉亚威沣盈</a:t>
            </a:r>
            <a:endParaRPr lang="en-US" altLang="zh-CN" sz="825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825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智能制造产业基金</a:t>
            </a:r>
          </a:p>
        </p:txBody>
      </p:sp>
      <p:sp>
        <p:nvSpPr>
          <p:cNvPr id="11" name="Text Box 87"/>
          <p:cNvSpPr txBox="1">
            <a:spLocks noChangeArrowheads="1"/>
          </p:cNvSpPr>
          <p:nvPr userDrawn="1"/>
        </p:nvSpPr>
        <p:spPr bwMode="auto">
          <a:xfrm>
            <a:off x="8234065" y="6525344"/>
            <a:ext cx="65841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de-DE" altLang="zh-CN" sz="105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fld id="{7DA0D9ED-5DA3-42CE-9648-5CCE48D735C1}" type="slidenum">
              <a:rPr lang="de-DE" altLang="zh-CN" sz="105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de-DE" altLang="zh-CN" sz="10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591782"/>
            <a:ext cx="9144001" cy="266217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 userDrawn="1"/>
        </p:nvSpPr>
        <p:spPr>
          <a:xfrm>
            <a:off x="0" y="6525512"/>
            <a:ext cx="9144001" cy="65999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972" y="162138"/>
            <a:ext cx="7543800" cy="750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390" y="1266070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99" y="6451622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0703BB-BA92-469F-B7D5-B56B47AC0456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66018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A0EC218E-8EAB-4D99-88AA-92B2A4171808}"/>
              </a:ext>
            </a:extLst>
          </p:cNvPr>
          <p:cNvSpPr/>
          <p:nvPr userDrawn="1"/>
        </p:nvSpPr>
        <p:spPr>
          <a:xfrm>
            <a:off x="0" y="849333"/>
            <a:ext cx="9144001" cy="45719"/>
          </a:xfrm>
          <a:prstGeom prst="rect">
            <a:avLst/>
          </a:prstGeom>
          <a:solidFill>
            <a:srgbClr val="0064D2"/>
          </a:solidFill>
          <a:ln>
            <a:solidFill>
              <a:srgbClr val="006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8" r:id="rId6"/>
    <p:sldLayoutId id="2147483661" r:id="rId7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ECD1113-8B15-AD32-8CC4-5747F35E5229}"/>
              </a:ext>
            </a:extLst>
          </p:cNvPr>
          <p:cNvSpPr txBox="1"/>
          <p:nvPr/>
        </p:nvSpPr>
        <p:spPr>
          <a:xfrm>
            <a:off x="261258" y="249382"/>
            <a:ext cx="1817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Diagram [ 1 ]</a:t>
            </a:r>
            <a:endParaRPr lang="zh-CN" altLang="en-US" sz="2400" b="1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E3C1E5-229E-C77F-EFA7-28CDA5FD46BD}"/>
              </a:ext>
            </a:extLst>
          </p:cNvPr>
          <p:cNvSpPr/>
          <p:nvPr/>
        </p:nvSpPr>
        <p:spPr>
          <a:xfrm>
            <a:off x="861420" y="1618608"/>
            <a:ext cx="2042556" cy="687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HOST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( Client 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14DDB1-940F-5E0D-E04D-B47C3D94CB2F}"/>
              </a:ext>
            </a:extLst>
          </p:cNvPr>
          <p:cNvSpPr/>
          <p:nvPr/>
        </p:nvSpPr>
        <p:spPr>
          <a:xfrm>
            <a:off x="861419" y="2842501"/>
            <a:ext cx="2042557" cy="9522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( TCP/IP Server )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W5500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( </a:t>
            </a:r>
            <a:r>
              <a:rPr lang="en-US" altLang="zh-CN" b="1" dirty="0">
                <a:solidFill>
                  <a:schemeClr val="tx1"/>
                </a:solidFill>
                <a:sym typeface="Wingdings" panose="05000000000000000000" pitchFamily="2" charset="2"/>
              </a:rPr>
              <a:t>SPI Slave 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5FDD42-17E6-F8DA-5032-27D36C89013D}"/>
              </a:ext>
            </a:extLst>
          </p:cNvPr>
          <p:cNvSpPr/>
          <p:nvPr/>
        </p:nvSpPr>
        <p:spPr>
          <a:xfrm>
            <a:off x="861420" y="4331359"/>
            <a:ext cx="2042556" cy="9522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( </a:t>
            </a:r>
            <a:r>
              <a:rPr lang="en-US" altLang="zh-CN" b="1" dirty="0">
                <a:solidFill>
                  <a:schemeClr val="tx1"/>
                </a:solidFill>
                <a:sym typeface="Wingdings" panose="05000000000000000000" pitchFamily="2" charset="2"/>
              </a:rPr>
              <a:t>SPI Master )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sym typeface="Wingdings" panose="05000000000000000000" pitchFamily="2" charset="2"/>
              </a:rPr>
              <a:t>CTRL FPGA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4FEFE35-552E-585E-037C-3D353A9FB1DA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1882698" y="2305904"/>
            <a:ext cx="0" cy="5365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85C089D-393E-0D37-5BBF-12D8029F3D1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882698" y="3794760"/>
            <a:ext cx="0" cy="5365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55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C8AD9F9-44AD-484E-942D-1A62C83F23B3}"/>
              </a:ext>
            </a:extLst>
          </p:cNvPr>
          <p:cNvSpPr/>
          <p:nvPr/>
        </p:nvSpPr>
        <p:spPr>
          <a:xfrm>
            <a:off x="1930671" y="3248820"/>
            <a:ext cx="6223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ETH</a:t>
            </a:r>
            <a:endParaRPr lang="zh-CN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4A8F01-96E7-E561-5E3D-2AF35DB0C791}"/>
              </a:ext>
            </a:extLst>
          </p:cNvPr>
          <p:cNvSpPr/>
          <p:nvPr/>
        </p:nvSpPr>
        <p:spPr>
          <a:xfrm>
            <a:off x="2872267" y="1286670"/>
            <a:ext cx="984250" cy="46910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CTRL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015DCE-1EA6-BD5D-B0CE-0C6963601401}"/>
              </a:ext>
            </a:extLst>
          </p:cNvPr>
          <p:cNvSpPr/>
          <p:nvPr/>
        </p:nvSpPr>
        <p:spPr>
          <a:xfrm>
            <a:off x="4102100" y="1289047"/>
            <a:ext cx="1905000" cy="5524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15EA FAN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081B19-96E6-BFCA-6889-02EC32BCB6CF}"/>
              </a:ext>
            </a:extLst>
          </p:cNvPr>
          <p:cNvSpPr/>
          <p:nvPr/>
        </p:nvSpPr>
        <p:spPr>
          <a:xfrm>
            <a:off x="4102100" y="1974848"/>
            <a:ext cx="1905000" cy="5524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11EA Current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B0CF6D-19B5-D392-22F2-D7DDB96D50F2}"/>
              </a:ext>
            </a:extLst>
          </p:cNvPr>
          <p:cNvSpPr/>
          <p:nvPr/>
        </p:nvSpPr>
        <p:spPr>
          <a:xfrm>
            <a:off x="4102100" y="2665413"/>
            <a:ext cx="1905000" cy="5524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8EA Temperature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EF62CC8-7215-9988-8125-C827ACBEE7D2}"/>
              </a:ext>
            </a:extLst>
          </p:cNvPr>
          <p:cNvSpPr/>
          <p:nvPr/>
        </p:nvSpPr>
        <p:spPr>
          <a:xfrm>
            <a:off x="4102100" y="3355976"/>
            <a:ext cx="1905000" cy="5524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FP – Front Pannel</a:t>
            </a:r>
          </a:p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( set 8CH SV / PV 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2AEDBF-CB94-4368-6E53-B17E21A5A58C}"/>
              </a:ext>
            </a:extLst>
          </p:cNvPr>
          <p:cNvSpPr/>
          <p:nvPr/>
        </p:nvSpPr>
        <p:spPr>
          <a:xfrm>
            <a:off x="4102100" y="4046538"/>
            <a:ext cx="1905000" cy="5524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16EA DIMM Temp.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035DB21-0800-170F-DDB6-40423AB458E7}"/>
              </a:ext>
            </a:extLst>
          </p:cNvPr>
          <p:cNvCxnSpPr>
            <a:cxnSpLocks/>
            <a:stCxn id="22" idx="1"/>
            <a:endCxn id="10" idx="3"/>
          </p:cNvCxnSpPr>
          <p:nvPr/>
        </p:nvCxnSpPr>
        <p:spPr>
          <a:xfrm flipH="1">
            <a:off x="6007100" y="4322763"/>
            <a:ext cx="24558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77B8D5D-8C9E-FC63-84F3-C6884CFCBD90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>
            <a:off x="6007100" y="3632201"/>
            <a:ext cx="245583" cy="52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053A3235-7CE9-F249-1213-9C3CE534B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683" y="3366519"/>
            <a:ext cx="2240857" cy="54190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10C117F-B6EB-2E57-CBE3-AAE10C0DB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682" y="4051809"/>
            <a:ext cx="2240857" cy="54190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2914649-21F2-C461-F585-BD8092287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681" y="1289050"/>
            <a:ext cx="2240857" cy="552450"/>
          </a:xfrm>
          <a:prstGeom prst="rect">
            <a:avLst/>
          </a:prstGeom>
        </p:spPr>
      </p:pic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BA6D4F4-ABDB-0A65-B081-5BAACE6496E3}"/>
              </a:ext>
            </a:extLst>
          </p:cNvPr>
          <p:cNvCxnSpPr>
            <a:cxnSpLocks/>
            <a:stCxn id="5" idx="3"/>
            <a:endCxn id="50" idx="1"/>
          </p:cNvCxnSpPr>
          <p:nvPr/>
        </p:nvCxnSpPr>
        <p:spPr>
          <a:xfrm>
            <a:off x="6007100" y="1565274"/>
            <a:ext cx="245581" cy="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E87A022-709B-B5AE-525F-C0639805AE1A}"/>
              </a:ext>
            </a:extLst>
          </p:cNvPr>
          <p:cNvSpPr/>
          <p:nvPr/>
        </p:nvSpPr>
        <p:spPr>
          <a:xfrm>
            <a:off x="4102100" y="4737100"/>
            <a:ext cx="1905000" cy="5524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TCON</a:t>
            </a:r>
          </a:p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( 2CH RS485 )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DFF62B3-8B5A-04F1-0A14-0A1C2B0A830B}"/>
              </a:ext>
            </a:extLst>
          </p:cNvPr>
          <p:cNvSpPr/>
          <p:nvPr/>
        </p:nvSpPr>
        <p:spPr>
          <a:xfrm>
            <a:off x="4102100" y="5427662"/>
            <a:ext cx="1905000" cy="5524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GPIO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257E6BD-FC08-3F95-69C8-C480814AA939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552971" y="3629820"/>
            <a:ext cx="319296" cy="238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3A0535D-EDCE-60A0-7962-1E5BDC6818BD}"/>
              </a:ext>
            </a:extLst>
          </p:cNvPr>
          <p:cNvSpPr/>
          <p:nvPr/>
        </p:nvSpPr>
        <p:spPr>
          <a:xfrm>
            <a:off x="627125" y="1286669"/>
            <a:ext cx="984250" cy="4691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HOST</a:t>
            </a:r>
            <a:endParaRPr lang="zh-CN" altLang="en-US" sz="2400" b="1" dirty="0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81B7B026-8B58-78BF-EC10-F6FE585BFA2C}"/>
              </a:ext>
            </a:extLst>
          </p:cNvPr>
          <p:cNvCxnSpPr>
            <a:cxnSpLocks/>
            <a:stCxn id="59" idx="3"/>
            <a:endCxn id="3" idx="1"/>
          </p:cNvCxnSpPr>
          <p:nvPr/>
        </p:nvCxnSpPr>
        <p:spPr>
          <a:xfrm flipV="1">
            <a:off x="1611375" y="3629820"/>
            <a:ext cx="319296" cy="238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2">
            <a:extLst>
              <a:ext uri="{FF2B5EF4-FFF2-40B4-BE49-F238E27FC236}">
                <a16:creationId xmlns:a16="http://schemas.microsoft.com/office/drawing/2014/main" id="{E0F6061F-07BC-299A-F255-B49E9041C6CB}"/>
              </a:ext>
            </a:extLst>
          </p:cNvPr>
          <p:cNvSpPr txBox="1"/>
          <p:nvPr/>
        </p:nvSpPr>
        <p:spPr>
          <a:xfrm>
            <a:off x="261258" y="249382"/>
            <a:ext cx="1817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Diagram [ 2 ]</a:t>
            </a:r>
            <a:endParaRPr lang="zh-CN" altLang="en-US" sz="2400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D9701A-ABC1-64F7-A576-630784053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5636" y="1974848"/>
            <a:ext cx="1174946" cy="541907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ED12E1F-8750-1EDB-8363-33F83346A141}"/>
              </a:ext>
            </a:extLst>
          </p:cNvPr>
          <p:cNvCxnSpPr>
            <a:cxnSpLocks/>
            <a:stCxn id="17" idx="1"/>
            <a:endCxn id="6" idx="3"/>
          </p:cNvCxnSpPr>
          <p:nvPr/>
        </p:nvCxnSpPr>
        <p:spPr>
          <a:xfrm flipH="1">
            <a:off x="6007100" y="2245802"/>
            <a:ext cx="778536" cy="52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CEBC44C-84B6-AC44-3E70-015854F3B0EE}"/>
              </a:ext>
            </a:extLst>
          </p:cNvPr>
          <p:cNvCxnSpPr>
            <a:cxnSpLocks/>
            <a:stCxn id="54" idx="3"/>
            <a:endCxn id="27" idx="1"/>
          </p:cNvCxnSpPr>
          <p:nvPr/>
        </p:nvCxnSpPr>
        <p:spPr>
          <a:xfrm flipV="1">
            <a:off x="6007100" y="5008052"/>
            <a:ext cx="614095" cy="5273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787FAED-4D13-FC35-1403-223142D0318F}"/>
              </a:ext>
            </a:extLst>
          </p:cNvPr>
          <p:cNvGrpSpPr/>
          <p:nvPr/>
        </p:nvGrpSpPr>
        <p:grpSpPr>
          <a:xfrm>
            <a:off x="6621195" y="4724279"/>
            <a:ext cx="1872343" cy="567545"/>
            <a:chOff x="7129630" y="4737099"/>
            <a:chExt cx="1872343" cy="567545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8083FDF6-2AAA-3458-96B1-1E674529E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29630" y="4737099"/>
              <a:ext cx="486066" cy="567545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D4BE5D8-D965-49A6-BECD-96AAFDDF6F2A}"/>
                </a:ext>
              </a:extLst>
            </p:cNvPr>
            <p:cNvSpPr txBox="1"/>
            <p:nvPr/>
          </p:nvSpPr>
          <p:spPr>
            <a:xfrm>
              <a:off x="7615696" y="4854163"/>
              <a:ext cx="13862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8CH SSR Control</a:t>
              </a:r>
              <a:endParaRPr lang="zh-CN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4838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ECD1113-8B15-AD32-8CC4-5747F35E5229}"/>
              </a:ext>
            </a:extLst>
          </p:cNvPr>
          <p:cNvSpPr txBox="1"/>
          <p:nvPr/>
        </p:nvSpPr>
        <p:spPr>
          <a:xfrm>
            <a:off x="261258" y="249382"/>
            <a:ext cx="1817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Diagram [ 3 ]</a:t>
            </a:r>
            <a:endParaRPr lang="zh-CN" altLang="en-US" sz="2400" b="1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E3C1E5-229E-C77F-EFA7-28CDA5FD46BD}"/>
              </a:ext>
            </a:extLst>
          </p:cNvPr>
          <p:cNvSpPr/>
          <p:nvPr/>
        </p:nvSpPr>
        <p:spPr>
          <a:xfrm>
            <a:off x="221867" y="1174340"/>
            <a:ext cx="1083795" cy="9522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HOST</a:t>
            </a: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( TCP Client )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14DDB1-940F-5E0D-E04D-B47C3D94CB2F}"/>
              </a:ext>
            </a:extLst>
          </p:cNvPr>
          <p:cNvSpPr/>
          <p:nvPr/>
        </p:nvSpPr>
        <p:spPr>
          <a:xfrm>
            <a:off x="2177119" y="1174339"/>
            <a:ext cx="1368536" cy="9522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( TCP/IP Server )</a:t>
            </a: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W5500</a:t>
            </a: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( </a:t>
            </a:r>
            <a:r>
              <a:rPr lang="en-US" altLang="zh-CN" sz="1400" b="1" dirty="0">
                <a:solidFill>
                  <a:schemeClr val="tx1"/>
                </a:solidFill>
                <a:sym typeface="Wingdings" panose="05000000000000000000" pitchFamily="2" charset="2"/>
              </a:rPr>
              <a:t>SPI Slave )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5FDD42-17E6-F8DA-5032-27D36C89013D}"/>
              </a:ext>
            </a:extLst>
          </p:cNvPr>
          <p:cNvSpPr/>
          <p:nvPr/>
        </p:nvSpPr>
        <p:spPr>
          <a:xfrm>
            <a:off x="4256106" y="1174339"/>
            <a:ext cx="1368535" cy="9522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( </a:t>
            </a:r>
            <a:r>
              <a:rPr lang="en-US" altLang="zh-CN" sz="1400" b="1" dirty="0">
                <a:solidFill>
                  <a:schemeClr val="tx1"/>
                </a:solidFill>
                <a:sym typeface="Wingdings" panose="05000000000000000000" pitchFamily="2" charset="2"/>
              </a:rPr>
              <a:t>SPI Master )</a:t>
            </a: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sym typeface="Wingdings" panose="05000000000000000000" pitchFamily="2" charset="2"/>
              </a:rPr>
              <a:t>CTRL FPGA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4FEFE35-552E-585E-037C-3D353A9FB1DA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1305662" y="1650469"/>
            <a:ext cx="871457" cy="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85C089D-393E-0D37-5BBF-12D8029F3D1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545655" y="1650469"/>
            <a:ext cx="71045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A1765FD-EE4F-E4EE-F856-306CA1E5A15E}"/>
              </a:ext>
            </a:extLst>
          </p:cNvPr>
          <p:cNvSpPr txBox="1"/>
          <p:nvPr/>
        </p:nvSpPr>
        <p:spPr>
          <a:xfrm>
            <a:off x="1305662" y="1342692"/>
            <a:ext cx="871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3333FF"/>
                </a:solidFill>
              </a:rPr>
              <a:t>100Mbps</a:t>
            </a:r>
            <a:endParaRPr lang="zh-CN" altLang="en-US" sz="1400" b="1" dirty="0">
              <a:solidFill>
                <a:srgbClr val="3333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7039E8-19C5-7EFE-CD0A-1CDEC89A0606}"/>
              </a:ext>
            </a:extLst>
          </p:cNvPr>
          <p:cNvSpPr txBox="1"/>
          <p:nvPr/>
        </p:nvSpPr>
        <p:spPr>
          <a:xfrm>
            <a:off x="3545655" y="1342691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3333FF"/>
                </a:solidFill>
              </a:rPr>
              <a:t>25MHz</a:t>
            </a:r>
            <a:endParaRPr lang="zh-CN" altLang="en-US" sz="1400" b="1" dirty="0">
              <a:solidFill>
                <a:srgbClr val="3333FF"/>
              </a:solidFill>
            </a:endParaRPr>
          </a:p>
        </p:txBody>
      </p:sp>
      <p:sp>
        <p:nvSpPr>
          <p:cNvPr id="31" name="두루마리 모양: 세로로 말림 30">
            <a:extLst>
              <a:ext uri="{FF2B5EF4-FFF2-40B4-BE49-F238E27FC236}">
                <a16:creationId xmlns:a16="http://schemas.microsoft.com/office/drawing/2014/main" id="{A852EAE6-1E5B-73D8-82DA-4AA1F3DA27A7}"/>
              </a:ext>
            </a:extLst>
          </p:cNvPr>
          <p:cNvSpPr/>
          <p:nvPr/>
        </p:nvSpPr>
        <p:spPr>
          <a:xfrm>
            <a:off x="5598347" y="1040602"/>
            <a:ext cx="3319995" cy="4363208"/>
          </a:xfrm>
          <a:prstGeom prst="verticalScroll">
            <a:avLst>
              <a:gd name="adj" fmla="val 4305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0000FF"/>
                </a:solidFill>
              </a:rPr>
              <a:t>board </a:t>
            </a:r>
            <a:r>
              <a:rPr lang="en-US" altLang="zh-CN" sz="1600" dirty="0" err="1">
                <a:solidFill>
                  <a:srgbClr val="0000FF"/>
                </a:solidFill>
              </a:rPr>
              <a:t>init</a:t>
            </a:r>
            <a:r>
              <a:rPr lang="en-US" altLang="zh-CN" sz="1600" dirty="0">
                <a:solidFill>
                  <a:srgbClr val="0000FF"/>
                </a:solidFill>
              </a:rPr>
              <a:t>();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while (1) {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  </a:t>
            </a:r>
            <a:r>
              <a:rPr lang="en-US" altLang="zh-CN" sz="1600" dirty="0" err="1">
                <a:solidFill>
                  <a:srgbClr val="0000FF"/>
                </a:solidFill>
              </a:rPr>
              <a:t>board_sts</a:t>
            </a:r>
            <a:r>
              <a:rPr lang="en-US" altLang="zh-CN" sz="1600" dirty="0">
                <a:solidFill>
                  <a:srgbClr val="0000FF"/>
                </a:solidFill>
              </a:rPr>
              <a:t>();</a:t>
            </a:r>
          </a:p>
          <a:p>
            <a:endParaRPr lang="en-US" altLang="zh-CN" sz="1600" dirty="0">
              <a:solidFill>
                <a:srgbClr val="0000FF"/>
              </a:solidFill>
            </a:endParaRPr>
          </a:p>
          <a:p>
            <a:r>
              <a:rPr lang="en-US" altLang="zh-CN" sz="1600" dirty="0">
                <a:solidFill>
                  <a:srgbClr val="0000FF"/>
                </a:solidFill>
              </a:rPr>
              <a:t>  </a:t>
            </a:r>
            <a:r>
              <a:rPr lang="en-US" altLang="zh-CN" sz="1600" dirty="0" err="1">
                <a:solidFill>
                  <a:srgbClr val="0000FF"/>
                </a:solidFill>
              </a:rPr>
              <a:t>tcp_server</a:t>
            </a:r>
            <a:r>
              <a:rPr lang="en-US" altLang="zh-CN" sz="1600" dirty="0">
                <a:solidFill>
                  <a:srgbClr val="0000FF"/>
                </a:solidFill>
              </a:rPr>
              <a:t>() {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     RQST-RESP;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  }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  </a:t>
            </a:r>
            <a:r>
              <a:rPr lang="en-US" altLang="zh-CN" sz="1600" dirty="0" err="1">
                <a:solidFill>
                  <a:srgbClr val="0000FF"/>
                </a:solidFill>
              </a:rPr>
              <a:t>all_fan_tach</a:t>
            </a:r>
            <a:r>
              <a:rPr lang="en-US" altLang="zh-CN" sz="1600" dirty="0">
                <a:solidFill>
                  <a:srgbClr val="0000FF"/>
                </a:solidFill>
              </a:rPr>
              <a:t>();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  </a:t>
            </a:r>
            <a:r>
              <a:rPr lang="en-US" altLang="zh-CN" sz="1600" dirty="0" err="1">
                <a:solidFill>
                  <a:srgbClr val="0000FF"/>
                </a:solidFill>
              </a:rPr>
              <a:t>all_cur_cur</a:t>
            </a:r>
            <a:r>
              <a:rPr lang="en-US" altLang="zh-CN" sz="1600" dirty="0">
                <a:solidFill>
                  <a:srgbClr val="0000FF"/>
                </a:solidFill>
              </a:rPr>
              <a:t>();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  </a:t>
            </a:r>
            <a:r>
              <a:rPr lang="en-US" altLang="zh-CN" sz="1600" dirty="0" err="1">
                <a:solidFill>
                  <a:srgbClr val="0000FF"/>
                </a:solidFill>
              </a:rPr>
              <a:t>all_temp_temp</a:t>
            </a:r>
            <a:r>
              <a:rPr lang="en-US" altLang="zh-CN" sz="1600" dirty="0">
                <a:solidFill>
                  <a:srgbClr val="0000FF"/>
                </a:solidFill>
              </a:rPr>
              <a:t>();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  </a:t>
            </a:r>
            <a:r>
              <a:rPr lang="en-US" altLang="zh-CN" sz="1600" dirty="0" err="1">
                <a:solidFill>
                  <a:srgbClr val="0000FF"/>
                </a:solidFill>
              </a:rPr>
              <a:t>all_fp_set</a:t>
            </a:r>
            <a:r>
              <a:rPr lang="en-US" altLang="zh-CN" sz="1600" dirty="0">
                <a:solidFill>
                  <a:srgbClr val="0000FF"/>
                </a:solidFill>
              </a:rPr>
              <a:t>();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  </a:t>
            </a:r>
            <a:r>
              <a:rPr lang="en-US" altLang="zh-CN" sz="1600" dirty="0" err="1">
                <a:solidFill>
                  <a:srgbClr val="0000FF"/>
                </a:solidFill>
              </a:rPr>
              <a:t>all_dimm_temp</a:t>
            </a:r>
            <a:r>
              <a:rPr lang="en-US" altLang="zh-CN" sz="1600" dirty="0">
                <a:solidFill>
                  <a:srgbClr val="0000FF"/>
                </a:solidFill>
              </a:rPr>
              <a:t>();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  1ea_tcon_4ch_sts();</a:t>
            </a:r>
          </a:p>
          <a:p>
            <a:r>
              <a:rPr lang="en-US" altLang="zh-CN" sz="1600" dirty="0">
                <a:solidFill>
                  <a:srgbClr val="0000FF"/>
                </a:solidFill>
              </a:rPr>
              <a:t>}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C16B765-840C-A97E-E90E-44C6571CA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67" y="2566176"/>
            <a:ext cx="5007354" cy="121833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3CA9346-E212-3615-BB9B-049F75D419D3}"/>
              </a:ext>
            </a:extLst>
          </p:cNvPr>
          <p:cNvSpPr txBox="1"/>
          <p:nvPr/>
        </p:nvSpPr>
        <p:spPr>
          <a:xfrm>
            <a:off x="7092060" y="2721077"/>
            <a:ext cx="154901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>
                <a:solidFill>
                  <a:srgbClr val="FF0000"/>
                </a:solidFill>
              </a:rPr>
              <a:t> 0.408ms</a:t>
            </a:r>
          </a:p>
          <a:p>
            <a:pPr algn="r"/>
            <a:endParaRPr lang="en-US" altLang="zh-CN" sz="1600" dirty="0">
              <a:solidFill>
                <a:srgbClr val="FF0000"/>
              </a:solidFill>
            </a:endParaRPr>
          </a:p>
          <a:p>
            <a:pPr algn="r"/>
            <a:r>
              <a:rPr lang="en-US" altLang="zh-CN" sz="1600" dirty="0">
                <a:solidFill>
                  <a:srgbClr val="FF0000"/>
                </a:solidFill>
              </a:rPr>
              <a:t>  7.500ms</a:t>
            </a:r>
          </a:p>
          <a:p>
            <a:pPr algn="r"/>
            <a:r>
              <a:rPr lang="en-US" altLang="zh-CN" sz="1600" dirty="0">
                <a:solidFill>
                  <a:srgbClr val="FF0000"/>
                </a:solidFill>
              </a:rPr>
              <a:t>  5.500ms</a:t>
            </a:r>
          </a:p>
          <a:p>
            <a:pPr algn="r"/>
            <a:r>
              <a:rPr lang="en-US" altLang="zh-CN" sz="1600" dirty="0">
                <a:solidFill>
                  <a:srgbClr val="FF0000"/>
                </a:solidFill>
              </a:rPr>
              <a:t>  4.000ms</a:t>
            </a:r>
          </a:p>
          <a:p>
            <a:pPr algn="r"/>
            <a:r>
              <a:rPr lang="en-US" altLang="zh-CN" sz="1600" dirty="0">
                <a:solidFill>
                  <a:srgbClr val="FF0000"/>
                </a:solidFill>
              </a:rPr>
              <a:t>  6.944ms</a:t>
            </a:r>
          </a:p>
          <a:p>
            <a:pPr algn="r"/>
            <a:r>
              <a:rPr lang="en-US" altLang="zh-CN" sz="1600" dirty="0">
                <a:solidFill>
                  <a:srgbClr val="FF0000"/>
                </a:solidFill>
              </a:rPr>
              <a:t>  0.066ms</a:t>
            </a:r>
          </a:p>
          <a:p>
            <a:pPr algn="r"/>
            <a:r>
              <a:rPr lang="en-US" altLang="zh-CN" sz="1600" dirty="0">
                <a:solidFill>
                  <a:srgbClr val="FF0000"/>
                </a:solidFill>
              </a:rPr>
              <a:t>72.917ms</a:t>
            </a:r>
          </a:p>
          <a:p>
            <a:pPr algn="r"/>
            <a:endParaRPr lang="en-US" altLang="zh-CN" sz="1600" dirty="0">
              <a:solidFill>
                <a:srgbClr val="FF0000"/>
              </a:solidFill>
            </a:endParaRPr>
          </a:p>
          <a:p>
            <a:pPr algn="r"/>
            <a:r>
              <a:rPr lang="en-US" altLang="zh-CN" sz="1600" dirty="0">
                <a:solidFill>
                  <a:srgbClr val="FF0000"/>
                </a:solidFill>
              </a:rPr>
              <a:t>Total : 97.335ms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D5324DD7-C6B8-A226-6528-11F866199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67" y="3960485"/>
            <a:ext cx="5007354" cy="1323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27B719-76FC-5241-ADD0-E8B0CA222150}"/>
              </a:ext>
            </a:extLst>
          </p:cNvPr>
          <p:cNvSpPr txBox="1"/>
          <p:nvPr/>
        </p:nvSpPr>
        <p:spPr>
          <a:xfrm>
            <a:off x="218458" y="5675602"/>
            <a:ext cx="6539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+mn-ea"/>
              </a:rPr>
              <a:t>※ while loop</a:t>
            </a:r>
            <a:r>
              <a:rPr lang="ko-KR" altLang="en-US" sz="1200" dirty="0">
                <a:latin typeface="+mn-ea"/>
              </a:rPr>
              <a:t>에서 주기적으로 </a:t>
            </a:r>
            <a:r>
              <a:rPr lang="en-US" altLang="ko-KR" sz="1200" dirty="0">
                <a:latin typeface="+mn-ea"/>
              </a:rPr>
              <a:t>tach, cur, temp </a:t>
            </a:r>
            <a:r>
              <a:rPr lang="ko-KR" altLang="en-US" sz="1200" dirty="0">
                <a:latin typeface="+mn-ea"/>
              </a:rPr>
              <a:t>등을 모니터링</a:t>
            </a:r>
            <a:r>
              <a:rPr lang="en-US" altLang="ko-KR" sz="1200" dirty="0">
                <a:latin typeface="+mn-ea"/>
              </a:rPr>
              <a:t>, 1</a:t>
            </a:r>
            <a:r>
              <a:rPr lang="ko-KR" altLang="en-US" sz="1200" dirty="0">
                <a:latin typeface="+mn-ea"/>
              </a:rPr>
              <a:t>초에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번 혹은 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번 업데이트</a:t>
            </a:r>
            <a:endParaRPr lang="en-US" altLang="ko-KR" sz="1200" dirty="0">
              <a:latin typeface="+mn-ea"/>
            </a:endParaRPr>
          </a:p>
          <a:p>
            <a:r>
              <a:rPr lang="en-US" altLang="zh-CN" sz="1200" dirty="0">
                <a:latin typeface="+mn-ea"/>
              </a:rPr>
              <a:t>※ host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request</a:t>
            </a:r>
            <a:r>
              <a:rPr lang="ko-KR" altLang="en-US" sz="1200" dirty="0">
                <a:latin typeface="+mn-ea"/>
              </a:rPr>
              <a:t>가 발생하면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바로 모니터링 값을 </a:t>
            </a:r>
            <a:r>
              <a:rPr lang="en-US" altLang="ko-KR" sz="1200" dirty="0">
                <a:latin typeface="+mn-ea"/>
              </a:rPr>
              <a:t>response</a:t>
            </a:r>
            <a:r>
              <a:rPr lang="ko-KR" altLang="en-US" sz="1200" dirty="0">
                <a:latin typeface="+mn-ea"/>
              </a:rPr>
              <a:t>로 전달</a:t>
            </a:r>
            <a:endParaRPr lang="zh-CN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966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E0FD8E8-0706-A033-CE7A-79ACAE8E5DDE}"/>
              </a:ext>
            </a:extLst>
          </p:cNvPr>
          <p:cNvSpPr txBox="1"/>
          <p:nvPr/>
        </p:nvSpPr>
        <p:spPr>
          <a:xfrm>
            <a:off x="261258" y="249382"/>
            <a:ext cx="2162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Packet Protocol</a:t>
            </a:r>
            <a:endParaRPr lang="zh-CN" altLang="en-US" sz="2400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3B7A97D-BC7F-C2B1-22CA-6530BC8C5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115545"/>
              </p:ext>
            </p:extLst>
          </p:nvPr>
        </p:nvGraphicFramePr>
        <p:xfrm>
          <a:off x="261258" y="1019360"/>
          <a:ext cx="7126522" cy="1604256"/>
        </p:xfrm>
        <a:graphic>
          <a:graphicData uri="http://schemas.openxmlformats.org/drawingml/2006/table">
            <a:tbl>
              <a:tblPr/>
              <a:tblGrid>
                <a:gridCol w="904097">
                  <a:extLst>
                    <a:ext uri="{9D8B030D-6E8A-4147-A177-3AD203B41FA5}">
                      <a16:colId xmlns:a16="http://schemas.microsoft.com/office/drawing/2014/main" val="499734751"/>
                    </a:ext>
                  </a:extLst>
                </a:gridCol>
                <a:gridCol w="498412">
                  <a:extLst>
                    <a:ext uri="{9D8B030D-6E8A-4147-A177-3AD203B41FA5}">
                      <a16:colId xmlns:a16="http://schemas.microsoft.com/office/drawing/2014/main" val="286720390"/>
                    </a:ext>
                  </a:extLst>
                </a:gridCol>
                <a:gridCol w="631709">
                  <a:extLst>
                    <a:ext uri="{9D8B030D-6E8A-4147-A177-3AD203B41FA5}">
                      <a16:colId xmlns:a16="http://schemas.microsoft.com/office/drawing/2014/main" val="418824082"/>
                    </a:ext>
                  </a:extLst>
                </a:gridCol>
                <a:gridCol w="587277">
                  <a:extLst>
                    <a:ext uri="{9D8B030D-6E8A-4147-A177-3AD203B41FA5}">
                      <a16:colId xmlns:a16="http://schemas.microsoft.com/office/drawing/2014/main" val="61977167"/>
                    </a:ext>
                  </a:extLst>
                </a:gridCol>
                <a:gridCol w="749550">
                  <a:extLst>
                    <a:ext uri="{9D8B030D-6E8A-4147-A177-3AD203B41FA5}">
                      <a16:colId xmlns:a16="http://schemas.microsoft.com/office/drawing/2014/main" val="205561277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487311968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2540217665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21421346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95528110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1215956903"/>
                    </a:ext>
                  </a:extLst>
                </a:gridCol>
                <a:gridCol w="1669102">
                  <a:extLst>
                    <a:ext uri="{9D8B030D-6E8A-4147-A177-3AD203B41FA5}">
                      <a16:colId xmlns:a16="http://schemas.microsoft.com/office/drawing/2014/main" val="1875554283"/>
                    </a:ext>
                  </a:extLst>
                </a:gridCol>
              </a:tblGrid>
              <a:tr h="869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구분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Header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grid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 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9E1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53968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identify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len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requst/respons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812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633126"/>
                  </a:ext>
                </a:extLst>
              </a:tr>
              <a:tr h="6997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의미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'c0de'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고정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 length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0=FAN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1=CUR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2=TEMP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3=FP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4=DIMM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5=TCON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6=GPIO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10=PDO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(pc -&gt; 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1=Response OK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-&gt; pc)</a:t>
                      </a:r>
                    </a:p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0xE=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Resp.Error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 Length : N</a:t>
                      </a:r>
                    </a:p>
                    <a:p>
                      <a:pPr algn="l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BYTE : byte count of desired Read/Write</a:t>
                      </a:r>
                    </a:p>
                    <a:p>
                      <a:pPr algn="l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DATA : NULL for Write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922910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0194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730FC0-CFB1-2CE8-AF86-BF87FB2BCAFB}"/>
              </a:ext>
            </a:extLst>
          </p:cNvPr>
          <p:cNvSpPr txBox="1"/>
          <p:nvPr/>
        </p:nvSpPr>
        <p:spPr>
          <a:xfrm>
            <a:off x="261257" y="2859458"/>
            <a:ext cx="2104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Request &amp; Response</a:t>
            </a:r>
            <a:endParaRPr lang="zh-CN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0B89CAF-99A3-CC1D-8486-20A211642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920141"/>
              </p:ext>
            </p:extLst>
          </p:nvPr>
        </p:nvGraphicFramePr>
        <p:xfrm>
          <a:off x="261257" y="3229129"/>
          <a:ext cx="7126522" cy="3102566"/>
        </p:xfrm>
        <a:graphic>
          <a:graphicData uri="http://schemas.openxmlformats.org/drawingml/2006/table">
            <a:tbl>
              <a:tblPr/>
              <a:tblGrid>
                <a:gridCol w="904097">
                  <a:extLst>
                    <a:ext uri="{9D8B030D-6E8A-4147-A177-3AD203B41FA5}">
                      <a16:colId xmlns:a16="http://schemas.microsoft.com/office/drawing/2014/main" val="499734751"/>
                    </a:ext>
                  </a:extLst>
                </a:gridCol>
                <a:gridCol w="498412">
                  <a:extLst>
                    <a:ext uri="{9D8B030D-6E8A-4147-A177-3AD203B41FA5}">
                      <a16:colId xmlns:a16="http://schemas.microsoft.com/office/drawing/2014/main" val="286720390"/>
                    </a:ext>
                  </a:extLst>
                </a:gridCol>
                <a:gridCol w="631709">
                  <a:extLst>
                    <a:ext uri="{9D8B030D-6E8A-4147-A177-3AD203B41FA5}">
                      <a16:colId xmlns:a16="http://schemas.microsoft.com/office/drawing/2014/main" val="418824082"/>
                    </a:ext>
                  </a:extLst>
                </a:gridCol>
                <a:gridCol w="587277">
                  <a:extLst>
                    <a:ext uri="{9D8B030D-6E8A-4147-A177-3AD203B41FA5}">
                      <a16:colId xmlns:a16="http://schemas.microsoft.com/office/drawing/2014/main" val="61977167"/>
                    </a:ext>
                  </a:extLst>
                </a:gridCol>
                <a:gridCol w="749550">
                  <a:extLst>
                    <a:ext uri="{9D8B030D-6E8A-4147-A177-3AD203B41FA5}">
                      <a16:colId xmlns:a16="http://schemas.microsoft.com/office/drawing/2014/main" val="205561277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487311968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2540217665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21421346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95528110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1215956903"/>
                    </a:ext>
                  </a:extLst>
                </a:gridCol>
                <a:gridCol w="1669102">
                  <a:extLst>
                    <a:ext uri="{9D8B030D-6E8A-4147-A177-3AD203B41FA5}">
                      <a16:colId xmlns:a16="http://schemas.microsoft.com/office/drawing/2014/main" val="1875554283"/>
                    </a:ext>
                  </a:extLst>
                </a:gridCol>
              </a:tblGrid>
              <a:tr h="869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구분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Header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grid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 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9E1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53968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identify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len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respons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812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633126"/>
                  </a:ext>
                </a:extLst>
              </a:tr>
              <a:tr h="6997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의미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'c0de'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고정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 length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0=FAN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1=CUR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2=TEMP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3=FP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4=DIMM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5=TCON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6=GPIO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10=PDO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(pc -&gt;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1=Response OK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-&gt; pc)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0xE=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Resp.Error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BYTE : byte count of desired Read/Write</a:t>
                      </a:r>
                    </a:p>
                    <a:p>
                      <a:pPr algn="l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DATA : NULL for Write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922910"/>
                  </a:ext>
                </a:extLst>
              </a:tr>
              <a:tr h="1507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Get Operation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22904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HOST 2 FPGA</a:t>
                      </a:r>
                    </a:p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Request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0xFF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0x00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0x11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Get 2 Byte from desired function</a:t>
                      </a:r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019426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2 HOST</a:t>
                      </a:r>
                    </a:p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Response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 + 2 = 6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0xFF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0x00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0x11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0xABCD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Receive 2 Byte data – 0xABCD </a:t>
                      </a:r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6822864"/>
                  </a:ext>
                </a:extLst>
              </a:tr>
              <a:tr h="1287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 Operation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878589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HOST 2 FPGA</a:t>
                      </a:r>
                    </a:p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Request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 + 2 = 6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0xFF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0x00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0x11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0x1234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Set 2 Byte to CTRL FPGA</a:t>
                      </a:r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0936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 2 HOST</a:t>
                      </a:r>
                    </a:p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Response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 or 0xE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Set or Write OK / Fail</a:t>
                      </a:r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304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813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CEFAF50F-AF52-137E-4BEE-67145F477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41529"/>
              </p:ext>
            </p:extLst>
          </p:nvPr>
        </p:nvGraphicFramePr>
        <p:xfrm>
          <a:off x="139700" y="977900"/>
          <a:ext cx="888365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1441556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1930542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577892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2362374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612366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Type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Channel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Address</a:t>
                      </a:r>
                      <a:endParaRPr lang="zh-CN" altLang="en-US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Function ( Code / Description )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Data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I2C_CH ( 0 ~ 4 )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REG_ADDR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Write 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 Byte / 1 Reg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6570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I2C_CH ( 0 ~ 4 )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REG_ADDR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Read 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 Byte / 1 Reg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1513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FAN_IDX ( 0 ~ 14 )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Set Duty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 Byte / 1 EA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369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FAN_IDX ( 0 ~ 14 )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Get Duty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1 Byte / 1 EA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31727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FAN_IDX ( 0 ~ 14 )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0x20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Get Tach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 Byte / 1 EA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887737"/>
                  </a:ext>
                </a:extLst>
              </a:tr>
            </a:tbl>
          </a:graphicData>
        </a:graphic>
      </p:graphicFrame>
      <p:sp>
        <p:nvSpPr>
          <p:cNvPr id="4" name="文本框 2">
            <a:extLst>
              <a:ext uri="{FF2B5EF4-FFF2-40B4-BE49-F238E27FC236}">
                <a16:creationId xmlns:a16="http://schemas.microsoft.com/office/drawing/2014/main" id="{60FC2458-E1FA-37AB-A814-3849A51AA451}"/>
              </a:ext>
            </a:extLst>
          </p:cNvPr>
          <p:cNvSpPr txBox="1"/>
          <p:nvPr/>
        </p:nvSpPr>
        <p:spPr>
          <a:xfrm>
            <a:off x="261258" y="249382"/>
            <a:ext cx="5361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FAN : EMC2303 – 3CH Fan Controller [ 1 ]</a:t>
            </a:r>
            <a:endParaRPr lang="zh-CN" altLang="en-US" sz="24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562077C-D7AF-828F-7020-A23BD188D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15081"/>
              </p:ext>
            </p:extLst>
          </p:nvPr>
        </p:nvGraphicFramePr>
        <p:xfrm>
          <a:off x="139700" y="2685261"/>
          <a:ext cx="6140452" cy="2074544"/>
        </p:xfrm>
        <a:graphic>
          <a:graphicData uri="http://schemas.openxmlformats.org/drawingml/2006/table">
            <a:tbl>
              <a:tblPr/>
              <a:tblGrid>
                <a:gridCol w="882650">
                  <a:extLst>
                    <a:ext uri="{9D8B030D-6E8A-4147-A177-3AD203B41FA5}">
                      <a16:colId xmlns:a16="http://schemas.microsoft.com/office/drawing/2014/main" val="346381183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506862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196435353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25991444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838310508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38655174"/>
                    </a:ext>
                  </a:extLst>
                </a:gridCol>
                <a:gridCol w="666752">
                  <a:extLst>
                    <a:ext uri="{9D8B030D-6E8A-4147-A177-3AD203B41FA5}">
                      <a16:colId xmlns:a16="http://schemas.microsoft.com/office/drawing/2014/main" val="1105309775"/>
                    </a:ext>
                  </a:extLst>
                </a:gridCol>
              </a:tblGrid>
              <a:tr h="12203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1-1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655174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I2C Channel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 Controller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Function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Comment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I2C_CH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FAN_IDX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755819"/>
                  </a:ext>
                </a:extLst>
              </a:tr>
              <a:tr h="12203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FAN1_SCL, SDA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1(U49)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Temp Box FAN1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850030"/>
                  </a:ext>
                </a:extLst>
              </a:tr>
              <a:tr h="122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Temp Box FAN2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85937"/>
                  </a:ext>
                </a:extLst>
              </a:tr>
              <a:tr h="122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Temp Box FAN3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114274"/>
                  </a:ext>
                </a:extLst>
              </a:tr>
              <a:tr h="12203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FAN2_SCL,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1(U50)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Temp Box FAN4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064557"/>
                  </a:ext>
                </a:extLst>
              </a:tr>
              <a:tr h="122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Temp Box FAN5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217808"/>
                  </a:ext>
                </a:extLst>
              </a:tr>
              <a:tr h="122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Temp Box FAN6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05859"/>
                  </a:ext>
                </a:extLst>
              </a:tr>
              <a:tr h="12203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FAN3_SCL,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1(U51)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Temp Box FAN7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558347"/>
                  </a:ext>
                </a:extLst>
              </a:tr>
              <a:tr h="122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Temp Box FAN8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213094"/>
                  </a:ext>
                </a:extLst>
              </a:tr>
              <a:tr h="122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Spare FAN (To Back Plane)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사용용도 미정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506642"/>
                  </a:ext>
                </a:extLst>
              </a:tr>
              <a:tr h="12203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FAN4_SCL,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1(U52)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Heat Sink1 Block FAN1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694353"/>
                  </a:ext>
                </a:extLst>
              </a:tr>
              <a:tr h="122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Heat Sink1 Block FAN2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57631"/>
                  </a:ext>
                </a:extLst>
              </a:tr>
              <a:tr h="122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Heat Sink1 Block FAN3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970700"/>
                  </a:ext>
                </a:extLst>
              </a:tr>
              <a:tr h="12203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FAN5_SCL,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1(U53)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Heat Sink1 Block FAN4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214594"/>
                  </a:ext>
                </a:extLst>
              </a:tr>
              <a:tr h="122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Peltier Controller CASE FAN1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551414"/>
                  </a:ext>
                </a:extLst>
              </a:tr>
              <a:tr h="1220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Peltier Controller CASE FAN2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E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19037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0696C6-3E05-FAD8-71A9-F07B270D3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194813"/>
              </p:ext>
            </p:extLst>
          </p:nvPr>
        </p:nvGraphicFramePr>
        <p:xfrm>
          <a:off x="139700" y="4838943"/>
          <a:ext cx="7126522" cy="1604256"/>
        </p:xfrm>
        <a:graphic>
          <a:graphicData uri="http://schemas.openxmlformats.org/drawingml/2006/table">
            <a:tbl>
              <a:tblPr/>
              <a:tblGrid>
                <a:gridCol w="904097">
                  <a:extLst>
                    <a:ext uri="{9D8B030D-6E8A-4147-A177-3AD203B41FA5}">
                      <a16:colId xmlns:a16="http://schemas.microsoft.com/office/drawing/2014/main" val="499734751"/>
                    </a:ext>
                  </a:extLst>
                </a:gridCol>
                <a:gridCol w="498412">
                  <a:extLst>
                    <a:ext uri="{9D8B030D-6E8A-4147-A177-3AD203B41FA5}">
                      <a16:colId xmlns:a16="http://schemas.microsoft.com/office/drawing/2014/main" val="286720390"/>
                    </a:ext>
                  </a:extLst>
                </a:gridCol>
                <a:gridCol w="631709">
                  <a:extLst>
                    <a:ext uri="{9D8B030D-6E8A-4147-A177-3AD203B41FA5}">
                      <a16:colId xmlns:a16="http://schemas.microsoft.com/office/drawing/2014/main" val="418824082"/>
                    </a:ext>
                  </a:extLst>
                </a:gridCol>
                <a:gridCol w="587277">
                  <a:extLst>
                    <a:ext uri="{9D8B030D-6E8A-4147-A177-3AD203B41FA5}">
                      <a16:colId xmlns:a16="http://schemas.microsoft.com/office/drawing/2014/main" val="61977167"/>
                    </a:ext>
                  </a:extLst>
                </a:gridCol>
                <a:gridCol w="749550">
                  <a:extLst>
                    <a:ext uri="{9D8B030D-6E8A-4147-A177-3AD203B41FA5}">
                      <a16:colId xmlns:a16="http://schemas.microsoft.com/office/drawing/2014/main" val="205561277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487311968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2540217665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21421346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95528110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1215956903"/>
                    </a:ext>
                  </a:extLst>
                </a:gridCol>
                <a:gridCol w="1669102">
                  <a:extLst>
                    <a:ext uri="{9D8B030D-6E8A-4147-A177-3AD203B41FA5}">
                      <a16:colId xmlns:a16="http://schemas.microsoft.com/office/drawing/2014/main" val="1875554283"/>
                    </a:ext>
                  </a:extLst>
                </a:gridCol>
              </a:tblGrid>
              <a:tr h="869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구분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Header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grid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 byte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Note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53968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identify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len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requst/respons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812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2byte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633126"/>
                  </a:ext>
                </a:extLst>
              </a:tr>
              <a:tr h="6997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의미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'c0de'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고정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 length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0=FAN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1=CUR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2=TEMP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3=FP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4=DIMM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5=TCON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6=GPIO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10=PDO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(pc -&gt;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1=Response OK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-&gt; pc)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0xE=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Resp.Error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922910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xFF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0x11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Read 10-byte, </a:t>
                      </a:r>
                    </a:p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5EA tach value of FAN_0 ~ 4</a:t>
                      </a:r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019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600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60FC2458-E1FA-37AB-A814-3849A51AA451}"/>
              </a:ext>
            </a:extLst>
          </p:cNvPr>
          <p:cNvSpPr txBox="1"/>
          <p:nvPr/>
        </p:nvSpPr>
        <p:spPr>
          <a:xfrm>
            <a:off x="261258" y="249382"/>
            <a:ext cx="5361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FAN : EMC2303 – 3CH Fan Controller [ 2 ]</a:t>
            </a:r>
            <a:endParaRPr lang="zh-CN" altLang="en-US" sz="24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BD2440D9-FB26-A752-9875-4FFB4AF8A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664011"/>
              </p:ext>
            </p:extLst>
          </p:nvPr>
        </p:nvGraphicFramePr>
        <p:xfrm>
          <a:off x="139700" y="977900"/>
          <a:ext cx="888365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1441556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1930542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577892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2362374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612366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Type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Channel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Address</a:t>
                      </a:r>
                      <a:endParaRPr lang="zh-CN" altLang="en-US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Function ( Code / Description )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Data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I2C_CH ( 0 ~ 4 )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REG_ADDR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Write 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 Byte / 1 Reg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6570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I2C_CH ( 0 ~ 4 )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REG_ADDR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Read 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 Byte / 1 Reg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1513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FAN_IDX ( 0 ~ 14 )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Set Duty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 Byte / 1 EA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369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FAN_IDX ( 0 ~ 14 )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Get Duty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1 Byte / 1 EA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531727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FAN_IDX ( 0 ~ 14 )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0x20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Get Tach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 Byte / 1 EA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887737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D7E81ECF-ACFA-C93F-97C3-CA68F9B15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676" y="4340303"/>
            <a:ext cx="3363104" cy="20585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287D79-473C-6FA5-0724-1115DDD67EE7}"/>
              </a:ext>
            </a:extLst>
          </p:cNvPr>
          <p:cNvSpPr txBox="1"/>
          <p:nvPr/>
        </p:nvSpPr>
        <p:spPr>
          <a:xfrm>
            <a:off x="139700" y="2736502"/>
            <a:ext cx="418172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</a:rPr>
              <a:t>1 Byte Duty : FAN Speed % = ( Duty / 0xFF ) * 100 %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0x00 : STOP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0xFF : Full-Speed RUN</a:t>
            </a:r>
          </a:p>
          <a:p>
            <a:endParaRPr lang="en-US" altLang="zh-CN" sz="1400" dirty="0"/>
          </a:p>
          <a:p>
            <a:r>
              <a:rPr lang="en-US" altLang="zh-CN" sz="1400" dirty="0">
                <a:solidFill>
                  <a:srgbClr val="0000FF"/>
                </a:solidFill>
              </a:rPr>
              <a:t>2 Byte Tach ( 13-bit ) : FAN RPM = ( 3932160 * 2 ) / Tach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0x1F_FF : STOP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5DB8043-A8C7-76CA-12C8-DA6137641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4340303"/>
            <a:ext cx="5262696" cy="20585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1513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60FC2458-E1FA-37AB-A814-3849A51AA451}"/>
              </a:ext>
            </a:extLst>
          </p:cNvPr>
          <p:cNvSpPr txBox="1"/>
          <p:nvPr/>
        </p:nvSpPr>
        <p:spPr>
          <a:xfrm>
            <a:off x="261258" y="249382"/>
            <a:ext cx="4844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CUR : INA226 – 1CH Current Monitor</a:t>
            </a:r>
            <a:endParaRPr lang="zh-CN" altLang="en-US" sz="24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0696C6-3E05-FAD8-71A9-F07B270D3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847469"/>
              </p:ext>
            </p:extLst>
          </p:nvPr>
        </p:nvGraphicFramePr>
        <p:xfrm>
          <a:off x="139702" y="4837101"/>
          <a:ext cx="7126522" cy="1604256"/>
        </p:xfrm>
        <a:graphic>
          <a:graphicData uri="http://schemas.openxmlformats.org/drawingml/2006/table">
            <a:tbl>
              <a:tblPr/>
              <a:tblGrid>
                <a:gridCol w="904097">
                  <a:extLst>
                    <a:ext uri="{9D8B030D-6E8A-4147-A177-3AD203B41FA5}">
                      <a16:colId xmlns:a16="http://schemas.microsoft.com/office/drawing/2014/main" val="499734751"/>
                    </a:ext>
                  </a:extLst>
                </a:gridCol>
                <a:gridCol w="498412">
                  <a:extLst>
                    <a:ext uri="{9D8B030D-6E8A-4147-A177-3AD203B41FA5}">
                      <a16:colId xmlns:a16="http://schemas.microsoft.com/office/drawing/2014/main" val="286720390"/>
                    </a:ext>
                  </a:extLst>
                </a:gridCol>
                <a:gridCol w="631709">
                  <a:extLst>
                    <a:ext uri="{9D8B030D-6E8A-4147-A177-3AD203B41FA5}">
                      <a16:colId xmlns:a16="http://schemas.microsoft.com/office/drawing/2014/main" val="418824082"/>
                    </a:ext>
                  </a:extLst>
                </a:gridCol>
                <a:gridCol w="587277">
                  <a:extLst>
                    <a:ext uri="{9D8B030D-6E8A-4147-A177-3AD203B41FA5}">
                      <a16:colId xmlns:a16="http://schemas.microsoft.com/office/drawing/2014/main" val="61977167"/>
                    </a:ext>
                  </a:extLst>
                </a:gridCol>
                <a:gridCol w="749550">
                  <a:extLst>
                    <a:ext uri="{9D8B030D-6E8A-4147-A177-3AD203B41FA5}">
                      <a16:colId xmlns:a16="http://schemas.microsoft.com/office/drawing/2014/main" val="205561277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487311968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2540217665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21421346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405041991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95528110"/>
                    </a:ext>
                  </a:extLst>
                </a:gridCol>
                <a:gridCol w="1669102">
                  <a:extLst>
                    <a:ext uri="{9D8B030D-6E8A-4147-A177-3AD203B41FA5}">
                      <a16:colId xmlns:a16="http://schemas.microsoft.com/office/drawing/2014/main" val="1875554283"/>
                    </a:ext>
                  </a:extLst>
                </a:gridCol>
              </a:tblGrid>
              <a:tr h="869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구분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Header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grid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 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53968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identify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len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requst/respons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812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633126"/>
                  </a:ext>
                </a:extLst>
              </a:tr>
              <a:tr h="6997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의미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'c0de'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고정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 length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0=FAN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1=CUR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2=TEMP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3=FP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4=DIMM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5=TCON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6=GPIO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10=PDO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(pc -&gt;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1=Response OK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-&gt; pc)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0xE=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Resp.Error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922910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xFF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x02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0x11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Read 2-byte, </a:t>
                      </a:r>
                    </a:p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1EA current of CUR_2-Peltier_3</a:t>
                      </a:r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019426"/>
                  </a:ext>
                </a:extLst>
              </a:tr>
            </a:tbl>
          </a:graphicData>
        </a:graphic>
      </p:graphicFrame>
      <p:graphicFrame>
        <p:nvGraphicFramePr>
          <p:cNvPr id="8" name="표 3">
            <a:extLst>
              <a:ext uri="{FF2B5EF4-FFF2-40B4-BE49-F238E27FC236}">
                <a16:creationId xmlns:a16="http://schemas.microsoft.com/office/drawing/2014/main" id="{A9F95E1D-A3FE-D4A6-B447-749D9149C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479039"/>
              </p:ext>
            </p:extLst>
          </p:nvPr>
        </p:nvGraphicFramePr>
        <p:xfrm>
          <a:off x="139700" y="980779"/>
          <a:ext cx="88836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1441556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1930542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577892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2362374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612366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Type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Channel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Address</a:t>
                      </a:r>
                      <a:endParaRPr lang="zh-CN" altLang="en-US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Function ( Code / Description )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Data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I2C_CH ( 0 ~ 10 )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REG_ADDR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Write 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2 Byte / 1 Reg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6570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I2C_CH ( 0 ~ 10 )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REG_ADDR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Read 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2 Byte / 1 Reg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1513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CUR_IDX ( 0 ~ 10 )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Get Current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 Byte / 1 EA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36993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7CBF1F2-B5DD-0F46-C113-9E41C3D97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298855"/>
              </p:ext>
            </p:extLst>
          </p:nvPr>
        </p:nvGraphicFramePr>
        <p:xfrm>
          <a:off x="139700" y="2155241"/>
          <a:ext cx="7543801" cy="1586416"/>
        </p:xfrm>
        <a:graphic>
          <a:graphicData uri="http://schemas.openxmlformats.org/drawingml/2006/table">
            <a:tbl>
              <a:tblPr/>
              <a:tblGrid>
                <a:gridCol w="843714">
                  <a:extLst>
                    <a:ext uri="{9D8B030D-6E8A-4147-A177-3AD203B41FA5}">
                      <a16:colId xmlns:a16="http://schemas.microsoft.com/office/drawing/2014/main" val="1139186917"/>
                    </a:ext>
                  </a:extLst>
                </a:gridCol>
                <a:gridCol w="843714">
                  <a:extLst>
                    <a:ext uri="{9D8B030D-6E8A-4147-A177-3AD203B41FA5}">
                      <a16:colId xmlns:a16="http://schemas.microsoft.com/office/drawing/2014/main" val="3937235123"/>
                    </a:ext>
                  </a:extLst>
                </a:gridCol>
                <a:gridCol w="297782">
                  <a:extLst>
                    <a:ext uri="{9D8B030D-6E8A-4147-A177-3AD203B41FA5}">
                      <a16:colId xmlns:a16="http://schemas.microsoft.com/office/drawing/2014/main" val="4053447511"/>
                    </a:ext>
                  </a:extLst>
                </a:gridCol>
                <a:gridCol w="1836320">
                  <a:extLst>
                    <a:ext uri="{9D8B030D-6E8A-4147-A177-3AD203B41FA5}">
                      <a16:colId xmlns:a16="http://schemas.microsoft.com/office/drawing/2014/main" val="3396625395"/>
                    </a:ext>
                  </a:extLst>
                </a:gridCol>
                <a:gridCol w="1240757">
                  <a:extLst>
                    <a:ext uri="{9D8B030D-6E8A-4147-A177-3AD203B41FA5}">
                      <a16:colId xmlns:a16="http://schemas.microsoft.com/office/drawing/2014/main" val="1078343598"/>
                    </a:ext>
                  </a:extLst>
                </a:gridCol>
                <a:gridCol w="1240757">
                  <a:extLst>
                    <a:ext uri="{9D8B030D-6E8A-4147-A177-3AD203B41FA5}">
                      <a16:colId xmlns:a16="http://schemas.microsoft.com/office/drawing/2014/main" val="617003101"/>
                    </a:ext>
                  </a:extLst>
                </a:gridCol>
                <a:gridCol w="1240757">
                  <a:extLst>
                    <a:ext uri="{9D8B030D-6E8A-4147-A177-3AD203B41FA5}">
                      <a16:colId xmlns:a16="http://schemas.microsoft.com/office/drawing/2014/main" val="3227449118"/>
                    </a:ext>
                  </a:extLst>
                </a:gridCol>
              </a:tblGrid>
              <a:tr h="12203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1-2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4219593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I2C Channel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 Controller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Function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Comment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I2C_CH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CUR_IDX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083484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M1_SCL, SDA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1(U39)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Peltier 1 (Temp Box1) 24V Monitor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208794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M2_SCL,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2(U40)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Peltier 2 (Temp Box1) 24V Monitor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017252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M3_SCL,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3(U41)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Peltier 3 (Temp Box2) 24V Monitor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794355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M4_SCL,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4(U42)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Peltier 4 (Temp Box2) 24V Monitor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655773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M5_SCL,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5(U43)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Peltier 5 (Temp Box3) 24V Monitor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078408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M6_SCL,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6(U44)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Peltier 6 (Temp Box3) 24V Monitor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613623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M7_SCL,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7(U45)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Peltier 7 (Temp Box4) 24V Monitor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911932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M8_SCL,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8(U46)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Peltier 8 (Temp Box4) 24V Monitor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779876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M9_SCL,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9(U47)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Water Pump 12V Monitor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098181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M10_SCL,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10(U48)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Radiator FAN 12V Monitor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10554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M11_SCL, SDA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11(U87)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Back Plane Output Power 12V Monitor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4168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387BA42-D36D-0AEC-C254-364882FB2432}"/>
              </a:ext>
            </a:extLst>
          </p:cNvPr>
          <p:cNvSpPr txBox="1"/>
          <p:nvPr/>
        </p:nvSpPr>
        <p:spPr>
          <a:xfrm>
            <a:off x="139700" y="3920047"/>
            <a:ext cx="4447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</a:rPr>
              <a:t>2 Byte Current : return [ Current Register ] value of INA226</a:t>
            </a:r>
          </a:p>
        </p:txBody>
      </p:sp>
    </p:spTree>
    <p:extLst>
      <p:ext uri="{BB962C8B-B14F-4D97-AF65-F5344CB8AC3E}">
        <p14:creationId xmlns:p14="http://schemas.microsoft.com/office/powerpoint/2010/main" val="2538060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60FC2458-E1FA-37AB-A814-3849A51AA451}"/>
              </a:ext>
            </a:extLst>
          </p:cNvPr>
          <p:cNvSpPr txBox="1"/>
          <p:nvPr/>
        </p:nvSpPr>
        <p:spPr>
          <a:xfrm>
            <a:off x="261258" y="249382"/>
            <a:ext cx="5638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TEMP : TMP102 – 1CH Temperature Sensor</a:t>
            </a:r>
            <a:endParaRPr lang="zh-CN" altLang="en-US" sz="24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0696C6-3E05-FAD8-71A9-F07B270D3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057869"/>
              </p:ext>
            </p:extLst>
          </p:nvPr>
        </p:nvGraphicFramePr>
        <p:xfrm>
          <a:off x="139702" y="4837101"/>
          <a:ext cx="7126522" cy="1604256"/>
        </p:xfrm>
        <a:graphic>
          <a:graphicData uri="http://schemas.openxmlformats.org/drawingml/2006/table">
            <a:tbl>
              <a:tblPr/>
              <a:tblGrid>
                <a:gridCol w="904097">
                  <a:extLst>
                    <a:ext uri="{9D8B030D-6E8A-4147-A177-3AD203B41FA5}">
                      <a16:colId xmlns:a16="http://schemas.microsoft.com/office/drawing/2014/main" val="499734751"/>
                    </a:ext>
                  </a:extLst>
                </a:gridCol>
                <a:gridCol w="498412">
                  <a:extLst>
                    <a:ext uri="{9D8B030D-6E8A-4147-A177-3AD203B41FA5}">
                      <a16:colId xmlns:a16="http://schemas.microsoft.com/office/drawing/2014/main" val="286720390"/>
                    </a:ext>
                  </a:extLst>
                </a:gridCol>
                <a:gridCol w="631709">
                  <a:extLst>
                    <a:ext uri="{9D8B030D-6E8A-4147-A177-3AD203B41FA5}">
                      <a16:colId xmlns:a16="http://schemas.microsoft.com/office/drawing/2014/main" val="418824082"/>
                    </a:ext>
                  </a:extLst>
                </a:gridCol>
                <a:gridCol w="587277">
                  <a:extLst>
                    <a:ext uri="{9D8B030D-6E8A-4147-A177-3AD203B41FA5}">
                      <a16:colId xmlns:a16="http://schemas.microsoft.com/office/drawing/2014/main" val="61977167"/>
                    </a:ext>
                  </a:extLst>
                </a:gridCol>
                <a:gridCol w="749550">
                  <a:extLst>
                    <a:ext uri="{9D8B030D-6E8A-4147-A177-3AD203B41FA5}">
                      <a16:colId xmlns:a16="http://schemas.microsoft.com/office/drawing/2014/main" val="205561277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487311968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2540217665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21421346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884487078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95528110"/>
                    </a:ext>
                  </a:extLst>
                </a:gridCol>
                <a:gridCol w="1669102">
                  <a:extLst>
                    <a:ext uri="{9D8B030D-6E8A-4147-A177-3AD203B41FA5}">
                      <a16:colId xmlns:a16="http://schemas.microsoft.com/office/drawing/2014/main" val="1875554283"/>
                    </a:ext>
                  </a:extLst>
                </a:gridCol>
              </a:tblGrid>
              <a:tr h="869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구분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Header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grid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 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53968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identify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len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requst/respons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812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633126"/>
                  </a:ext>
                </a:extLst>
              </a:tr>
              <a:tr h="6997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의미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'c0de'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고정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 length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0=FAN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1=CUR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2=TEMP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3=FP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4=DIMM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5=TCON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6=GPIO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10=PDO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(pc -&gt;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1=Response OK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-&gt; pc)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0xE=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Resp.Error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922910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xFF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0x11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Read 6-byte, </a:t>
                      </a:r>
                    </a:p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3EA temperature of BL1, 2, 3</a:t>
                      </a:r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019426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2946872-9E24-2DEF-B9FE-C043AFF7F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722633"/>
              </p:ext>
            </p:extLst>
          </p:nvPr>
        </p:nvGraphicFramePr>
        <p:xfrm>
          <a:off x="139700" y="2355627"/>
          <a:ext cx="7543801" cy="1220320"/>
        </p:xfrm>
        <a:graphic>
          <a:graphicData uri="http://schemas.openxmlformats.org/drawingml/2006/table">
            <a:tbl>
              <a:tblPr/>
              <a:tblGrid>
                <a:gridCol w="843714">
                  <a:extLst>
                    <a:ext uri="{9D8B030D-6E8A-4147-A177-3AD203B41FA5}">
                      <a16:colId xmlns:a16="http://schemas.microsoft.com/office/drawing/2014/main" val="2195181470"/>
                    </a:ext>
                  </a:extLst>
                </a:gridCol>
                <a:gridCol w="1200986">
                  <a:extLst>
                    <a:ext uri="{9D8B030D-6E8A-4147-A177-3AD203B41FA5}">
                      <a16:colId xmlns:a16="http://schemas.microsoft.com/office/drawing/2014/main" val="1813888046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650141498"/>
                    </a:ext>
                  </a:extLst>
                </a:gridCol>
                <a:gridCol w="1560930">
                  <a:extLst>
                    <a:ext uri="{9D8B030D-6E8A-4147-A177-3AD203B41FA5}">
                      <a16:colId xmlns:a16="http://schemas.microsoft.com/office/drawing/2014/main" val="3129372349"/>
                    </a:ext>
                  </a:extLst>
                </a:gridCol>
                <a:gridCol w="1240757">
                  <a:extLst>
                    <a:ext uri="{9D8B030D-6E8A-4147-A177-3AD203B41FA5}">
                      <a16:colId xmlns:a16="http://schemas.microsoft.com/office/drawing/2014/main" val="2734352962"/>
                    </a:ext>
                  </a:extLst>
                </a:gridCol>
                <a:gridCol w="1240757">
                  <a:extLst>
                    <a:ext uri="{9D8B030D-6E8A-4147-A177-3AD203B41FA5}">
                      <a16:colId xmlns:a16="http://schemas.microsoft.com/office/drawing/2014/main" val="2481606951"/>
                    </a:ext>
                  </a:extLst>
                </a:gridCol>
                <a:gridCol w="1240757">
                  <a:extLst>
                    <a:ext uri="{9D8B030D-6E8A-4147-A177-3AD203B41FA5}">
                      <a16:colId xmlns:a16="http://schemas.microsoft.com/office/drawing/2014/main" val="3968205078"/>
                    </a:ext>
                  </a:extLst>
                </a:gridCol>
              </a:tblGrid>
              <a:tr h="122032">
                <a:tc gridSpan="5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1-3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771817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I2C Channel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 Controller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Function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Comment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I2C_CH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TSENSOR_IDX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479209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BL1_SCL, SDA 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1(U62, U65)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FET Switch BL1 Monitor 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092072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BL1_SCL, SDA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FET Switch BL1 Monitor 1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45236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BL2_SCL, SDA 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1(U68, U71)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FET Switch BL2 Monitor 0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42626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BL2_SCL, SDA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FET Switch BL2 Monitor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299922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BL3_SCL, SDA 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1(U74, U77)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FET Switch BL3 Monitor 0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763079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BL3_SCL, SDA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FET Switch BL3 Monitor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323554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BL4_SCL, SDA 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Controller 1(U80, U83)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FET Switch BL4 Monitor 0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438820"/>
                  </a:ext>
                </a:extLst>
              </a:tr>
              <a:tr h="1220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BL4_SCL, SDA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u="none" strike="noStrike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FET Switch BL4 Monitor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942049"/>
                  </a:ext>
                </a:extLst>
              </a:tr>
            </a:tbl>
          </a:graphicData>
        </a:graphic>
      </p:graphicFrame>
      <p:graphicFrame>
        <p:nvGraphicFramePr>
          <p:cNvPr id="8" name="표 3">
            <a:extLst>
              <a:ext uri="{FF2B5EF4-FFF2-40B4-BE49-F238E27FC236}">
                <a16:creationId xmlns:a16="http://schemas.microsoft.com/office/drawing/2014/main" id="{A9F95E1D-A3FE-D4A6-B447-749D9149C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683259"/>
              </p:ext>
            </p:extLst>
          </p:nvPr>
        </p:nvGraphicFramePr>
        <p:xfrm>
          <a:off x="139700" y="980779"/>
          <a:ext cx="888365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1441556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1930542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577892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2362374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612366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Type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Channel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Address</a:t>
                      </a:r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Function ( Code / Description )</a:t>
                      </a:r>
                      <a:endParaRPr lang="zh-CN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Data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I2C_CH ( 0 ~ 7 )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REG_ADDR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Write 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2 Byte / 1 Reg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6570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I2C_CH ( 0 ~ 7 )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REG_ADDR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Read 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2 Byte / 1 Reg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1513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TSENSOR_IDX ( 0 ~ 7 )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Get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 Byte / 1 EA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36993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F92CBF00-E3A9-1CA4-F5B0-4E7FA2D9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8" y="4413212"/>
            <a:ext cx="6639852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55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60FC2458-E1FA-37AB-A814-3849A51AA451}"/>
              </a:ext>
            </a:extLst>
          </p:cNvPr>
          <p:cNvSpPr txBox="1"/>
          <p:nvPr/>
        </p:nvSpPr>
        <p:spPr>
          <a:xfrm>
            <a:off x="261258" y="249382"/>
            <a:ext cx="4408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FP : Front Pannel – SV/PV Display</a:t>
            </a:r>
            <a:endParaRPr lang="zh-CN" altLang="en-US" sz="24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0696C6-3E05-FAD8-71A9-F07B270D3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743015"/>
              </p:ext>
            </p:extLst>
          </p:nvPr>
        </p:nvGraphicFramePr>
        <p:xfrm>
          <a:off x="139702" y="4837101"/>
          <a:ext cx="7126522" cy="1604256"/>
        </p:xfrm>
        <a:graphic>
          <a:graphicData uri="http://schemas.openxmlformats.org/drawingml/2006/table">
            <a:tbl>
              <a:tblPr/>
              <a:tblGrid>
                <a:gridCol w="904097">
                  <a:extLst>
                    <a:ext uri="{9D8B030D-6E8A-4147-A177-3AD203B41FA5}">
                      <a16:colId xmlns:a16="http://schemas.microsoft.com/office/drawing/2014/main" val="499734751"/>
                    </a:ext>
                  </a:extLst>
                </a:gridCol>
                <a:gridCol w="498412">
                  <a:extLst>
                    <a:ext uri="{9D8B030D-6E8A-4147-A177-3AD203B41FA5}">
                      <a16:colId xmlns:a16="http://schemas.microsoft.com/office/drawing/2014/main" val="286720390"/>
                    </a:ext>
                  </a:extLst>
                </a:gridCol>
                <a:gridCol w="631709">
                  <a:extLst>
                    <a:ext uri="{9D8B030D-6E8A-4147-A177-3AD203B41FA5}">
                      <a16:colId xmlns:a16="http://schemas.microsoft.com/office/drawing/2014/main" val="418824082"/>
                    </a:ext>
                  </a:extLst>
                </a:gridCol>
                <a:gridCol w="587277">
                  <a:extLst>
                    <a:ext uri="{9D8B030D-6E8A-4147-A177-3AD203B41FA5}">
                      <a16:colId xmlns:a16="http://schemas.microsoft.com/office/drawing/2014/main" val="61977167"/>
                    </a:ext>
                  </a:extLst>
                </a:gridCol>
                <a:gridCol w="749550">
                  <a:extLst>
                    <a:ext uri="{9D8B030D-6E8A-4147-A177-3AD203B41FA5}">
                      <a16:colId xmlns:a16="http://schemas.microsoft.com/office/drawing/2014/main" val="205561277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487311968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2540217665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21421346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77160335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95528110"/>
                    </a:ext>
                  </a:extLst>
                </a:gridCol>
                <a:gridCol w="1669102">
                  <a:extLst>
                    <a:ext uri="{9D8B030D-6E8A-4147-A177-3AD203B41FA5}">
                      <a16:colId xmlns:a16="http://schemas.microsoft.com/office/drawing/2014/main" val="1875554283"/>
                    </a:ext>
                  </a:extLst>
                </a:gridCol>
              </a:tblGrid>
              <a:tr h="869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구분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Header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grid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 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53968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identify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len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requst/respons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812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633126"/>
                  </a:ext>
                </a:extLst>
              </a:tr>
              <a:tr h="6997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의미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'c0de'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고정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 length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0=FAN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1=CUR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2=TEMP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3=FP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4=DIMM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5=TCON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6=GPIO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10=PDO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(pc -&gt;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1=Response OK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-&gt; pc)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0xE=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Resp.Error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922910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？？？</a:t>
                      </a:r>
                      <a:endParaRPr lang="en-US" altLang="zh-CN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xFF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???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0x???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8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Sev</a:t>
                      </a:r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SV, </a:t>
                      </a:r>
                    </a:p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019426"/>
                  </a:ext>
                </a:extLst>
              </a:tr>
            </a:tbl>
          </a:graphicData>
        </a:graphic>
      </p:graphicFrame>
      <p:graphicFrame>
        <p:nvGraphicFramePr>
          <p:cNvPr id="8" name="표 3">
            <a:extLst>
              <a:ext uri="{FF2B5EF4-FFF2-40B4-BE49-F238E27FC236}">
                <a16:creationId xmlns:a16="http://schemas.microsoft.com/office/drawing/2014/main" id="{A9F95E1D-A3FE-D4A6-B447-749D9149C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574689"/>
              </p:ext>
            </p:extLst>
          </p:nvPr>
        </p:nvGraphicFramePr>
        <p:xfrm>
          <a:off x="139700" y="980779"/>
          <a:ext cx="888365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1441556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1930542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577892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2362374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612366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Type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Channel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Address</a:t>
                      </a:r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Function ( Code / Description )</a:t>
                      </a:r>
                      <a:endParaRPr lang="zh-CN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Data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TBOX_IDX ( 0 ~ 7 )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0x10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Set 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4 Byte / 1 EA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6570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TBOX_IDX ( 0 ~ 7 )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0x11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Set PV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4 Byte / 1 EA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15138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20551520-8DFE-8C23-6FF6-BC71FCD7E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75" y="3093650"/>
            <a:ext cx="5146675" cy="16523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018472-D022-5A42-4C1B-73B74F83728D}"/>
              </a:ext>
            </a:extLst>
          </p:cNvPr>
          <p:cNvSpPr txBox="1"/>
          <p:nvPr/>
        </p:nvSpPr>
        <p:spPr>
          <a:xfrm>
            <a:off x="139700" y="1975419"/>
            <a:ext cx="47969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4 Byte Data : Hot/Cold, 10</a:t>
            </a:r>
            <a:r>
              <a:rPr lang="ko-KR" altLang="en-US" sz="1600" dirty="0"/>
              <a:t>의 자리</a:t>
            </a:r>
            <a:r>
              <a:rPr lang="en-US" altLang="ko-KR" sz="1600" dirty="0"/>
              <a:t>, 1</a:t>
            </a:r>
            <a:r>
              <a:rPr lang="ko-KR" altLang="en-US" sz="1600" dirty="0"/>
              <a:t>의 자리</a:t>
            </a:r>
            <a:r>
              <a:rPr lang="en-US" altLang="ko-KR" sz="1600" dirty="0"/>
              <a:t>, </a:t>
            </a:r>
            <a:r>
              <a:rPr lang="ko-KR" altLang="en-US" sz="1600" dirty="0"/>
              <a:t>소수자리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zh-CN" sz="1600" dirty="0"/>
              <a:t>Hot/Cold : 0 for Hot, 1 for Cold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한 자리 숫자 </a:t>
            </a:r>
            <a:r>
              <a:rPr lang="en-US" altLang="ko-KR" sz="1600" dirty="0"/>
              <a:t>: 0 ~ 9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80150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60FC2458-E1FA-37AB-A814-3849A51AA451}"/>
              </a:ext>
            </a:extLst>
          </p:cNvPr>
          <p:cNvSpPr txBox="1"/>
          <p:nvPr/>
        </p:nvSpPr>
        <p:spPr>
          <a:xfrm>
            <a:off x="261258" y="249382"/>
            <a:ext cx="3626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DIMM : TSOD Temperature</a:t>
            </a:r>
            <a:endParaRPr lang="zh-CN" altLang="en-US" sz="24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0696C6-3E05-FAD8-71A9-F07B270D3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9392"/>
              </p:ext>
            </p:extLst>
          </p:nvPr>
        </p:nvGraphicFramePr>
        <p:xfrm>
          <a:off x="139702" y="4837101"/>
          <a:ext cx="7126522" cy="1604256"/>
        </p:xfrm>
        <a:graphic>
          <a:graphicData uri="http://schemas.openxmlformats.org/drawingml/2006/table">
            <a:tbl>
              <a:tblPr/>
              <a:tblGrid>
                <a:gridCol w="904097">
                  <a:extLst>
                    <a:ext uri="{9D8B030D-6E8A-4147-A177-3AD203B41FA5}">
                      <a16:colId xmlns:a16="http://schemas.microsoft.com/office/drawing/2014/main" val="499734751"/>
                    </a:ext>
                  </a:extLst>
                </a:gridCol>
                <a:gridCol w="498412">
                  <a:extLst>
                    <a:ext uri="{9D8B030D-6E8A-4147-A177-3AD203B41FA5}">
                      <a16:colId xmlns:a16="http://schemas.microsoft.com/office/drawing/2014/main" val="286720390"/>
                    </a:ext>
                  </a:extLst>
                </a:gridCol>
                <a:gridCol w="631709">
                  <a:extLst>
                    <a:ext uri="{9D8B030D-6E8A-4147-A177-3AD203B41FA5}">
                      <a16:colId xmlns:a16="http://schemas.microsoft.com/office/drawing/2014/main" val="418824082"/>
                    </a:ext>
                  </a:extLst>
                </a:gridCol>
                <a:gridCol w="587277">
                  <a:extLst>
                    <a:ext uri="{9D8B030D-6E8A-4147-A177-3AD203B41FA5}">
                      <a16:colId xmlns:a16="http://schemas.microsoft.com/office/drawing/2014/main" val="61977167"/>
                    </a:ext>
                  </a:extLst>
                </a:gridCol>
                <a:gridCol w="749550">
                  <a:extLst>
                    <a:ext uri="{9D8B030D-6E8A-4147-A177-3AD203B41FA5}">
                      <a16:colId xmlns:a16="http://schemas.microsoft.com/office/drawing/2014/main" val="205561277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487311968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2540217665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21421346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724991457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95528110"/>
                    </a:ext>
                  </a:extLst>
                </a:gridCol>
                <a:gridCol w="1669102">
                  <a:extLst>
                    <a:ext uri="{9D8B030D-6E8A-4147-A177-3AD203B41FA5}">
                      <a16:colId xmlns:a16="http://schemas.microsoft.com/office/drawing/2014/main" val="1875554283"/>
                    </a:ext>
                  </a:extLst>
                </a:gridCol>
              </a:tblGrid>
              <a:tr h="869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구분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Header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grid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 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53968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identify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len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requst/respons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812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633126"/>
                  </a:ext>
                </a:extLst>
              </a:tr>
              <a:tr h="6997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의미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'c0de'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고정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 length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0=FAN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1=CUR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2=TEMP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3=FP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4=DIMM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5=TCON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6=GPIO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10=PDO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(pc -&gt;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1=Response OK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-&gt; pc)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0xE=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Resp.Error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922910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DIMM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xFF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Get DIMM temperature,</a:t>
                      </a:r>
                    </a:p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16-EA temperature of DIMM_0~15</a:t>
                      </a:r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019426"/>
                  </a:ext>
                </a:extLst>
              </a:tr>
            </a:tbl>
          </a:graphicData>
        </a:graphic>
      </p:graphicFrame>
      <p:graphicFrame>
        <p:nvGraphicFramePr>
          <p:cNvPr id="8" name="표 3">
            <a:extLst>
              <a:ext uri="{FF2B5EF4-FFF2-40B4-BE49-F238E27FC236}">
                <a16:creationId xmlns:a16="http://schemas.microsoft.com/office/drawing/2014/main" id="{A9F95E1D-A3FE-D4A6-B447-749D9149C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57592"/>
              </p:ext>
            </p:extLst>
          </p:nvPr>
        </p:nvGraphicFramePr>
        <p:xfrm>
          <a:off x="139700" y="980779"/>
          <a:ext cx="8883650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1441556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1930542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577892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2362374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612366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Type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Channel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Address</a:t>
                      </a:r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Function ( Code / Description )</a:t>
                      </a:r>
                      <a:endParaRPr lang="zh-CN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Data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DIMM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DIMM_IDX ( 0 ~ 15 )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Get DIMM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4 Byte / 1 EA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657083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B09EC571-34E1-9507-A503-8BA12FD56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256510"/>
              </p:ext>
            </p:extLst>
          </p:nvPr>
        </p:nvGraphicFramePr>
        <p:xfrm>
          <a:off x="139700" y="1708790"/>
          <a:ext cx="4762664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666">
                  <a:extLst>
                    <a:ext uri="{9D8B030D-6E8A-4147-A177-3AD203B41FA5}">
                      <a16:colId xmlns:a16="http://schemas.microsoft.com/office/drawing/2014/main" val="3068757386"/>
                    </a:ext>
                  </a:extLst>
                </a:gridCol>
                <a:gridCol w="1190666">
                  <a:extLst>
                    <a:ext uri="{9D8B030D-6E8A-4147-A177-3AD203B41FA5}">
                      <a16:colId xmlns:a16="http://schemas.microsoft.com/office/drawing/2014/main" val="297507267"/>
                    </a:ext>
                  </a:extLst>
                </a:gridCol>
                <a:gridCol w="1190666">
                  <a:extLst>
                    <a:ext uri="{9D8B030D-6E8A-4147-A177-3AD203B41FA5}">
                      <a16:colId xmlns:a16="http://schemas.microsoft.com/office/drawing/2014/main" val="3352873278"/>
                    </a:ext>
                  </a:extLst>
                </a:gridCol>
                <a:gridCol w="1190666">
                  <a:extLst>
                    <a:ext uri="{9D8B030D-6E8A-4147-A177-3AD203B41FA5}">
                      <a16:colId xmlns:a16="http://schemas.microsoft.com/office/drawing/2014/main" val="644530065"/>
                    </a:ext>
                  </a:extLst>
                </a:gridCol>
              </a:tblGrid>
              <a:tr h="2638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Data[31:24]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Data[23:16]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Data[15:8]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Data[7:0]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375349"/>
                  </a:ext>
                </a:extLst>
              </a:tr>
              <a:tr h="263811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16-bit </a:t>
                      </a:r>
                      <a:r>
                        <a:rPr lang="en-US" altLang="zh-CN" sz="1400" dirty="0" err="1"/>
                        <a:t>TS_a.Temp</a:t>
                      </a:r>
                      <a:endParaRPr lang="zh-CN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16-bit </a:t>
                      </a:r>
                      <a:r>
                        <a:rPr lang="en-US" altLang="zh-CN" sz="1400" dirty="0" err="1"/>
                        <a:t>TS_b.Temp</a:t>
                      </a:r>
                      <a:endParaRPr lang="zh-CN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4639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95972AA-A4FB-2E66-EE5D-174AEA852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2406723"/>
            <a:ext cx="4762664" cy="1151756"/>
          </a:xfrm>
          <a:prstGeom prst="rect">
            <a:avLst/>
          </a:prstGeom>
        </p:spPr>
      </p:pic>
      <p:pic>
        <p:nvPicPr>
          <p:cNvPr id="5" name="图片 2">
            <a:extLst>
              <a:ext uri="{FF2B5EF4-FFF2-40B4-BE49-F238E27FC236}">
                <a16:creationId xmlns:a16="http://schemas.microsoft.com/office/drawing/2014/main" id="{5E25CAE6-F309-54B5-025C-B592A3241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644" y="2168623"/>
            <a:ext cx="4101936" cy="162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68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60FC2458-E1FA-37AB-A814-3849A51AA451}"/>
              </a:ext>
            </a:extLst>
          </p:cNvPr>
          <p:cNvSpPr txBox="1"/>
          <p:nvPr/>
        </p:nvSpPr>
        <p:spPr>
          <a:xfrm>
            <a:off x="261258" y="249382"/>
            <a:ext cx="3788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TCON : M74 – PID Controller</a:t>
            </a:r>
            <a:endParaRPr lang="zh-CN" altLang="en-US" sz="24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0696C6-3E05-FAD8-71A9-F07B270D3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075459"/>
              </p:ext>
            </p:extLst>
          </p:nvPr>
        </p:nvGraphicFramePr>
        <p:xfrm>
          <a:off x="139702" y="4837101"/>
          <a:ext cx="7126522" cy="1604256"/>
        </p:xfrm>
        <a:graphic>
          <a:graphicData uri="http://schemas.openxmlformats.org/drawingml/2006/table">
            <a:tbl>
              <a:tblPr/>
              <a:tblGrid>
                <a:gridCol w="904097">
                  <a:extLst>
                    <a:ext uri="{9D8B030D-6E8A-4147-A177-3AD203B41FA5}">
                      <a16:colId xmlns:a16="http://schemas.microsoft.com/office/drawing/2014/main" val="499734751"/>
                    </a:ext>
                  </a:extLst>
                </a:gridCol>
                <a:gridCol w="498412">
                  <a:extLst>
                    <a:ext uri="{9D8B030D-6E8A-4147-A177-3AD203B41FA5}">
                      <a16:colId xmlns:a16="http://schemas.microsoft.com/office/drawing/2014/main" val="286720390"/>
                    </a:ext>
                  </a:extLst>
                </a:gridCol>
                <a:gridCol w="631709">
                  <a:extLst>
                    <a:ext uri="{9D8B030D-6E8A-4147-A177-3AD203B41FA5}">
                      <a16:colId xmlns:a16="http://schemas.microsoft.com/office/drawing/2014/main" val="418824082"/>
                    </a:ext>
                  </a:extLst>
                </a:gridCol>
                <a:gridCol w="587277">
                  <a:extLst>
                    <a:ext uri="{9D8B030D-6E8A-4147-A177-3AD203B41FA5}">
                      <a16:colId xmlns:a16="http://schemas.microsoft.com/office/drawing/2014/main" val="61977167"/>
                    </a:ext>
                  </a:extLst>
                </a:gridCol>
                <a:gridCol w="749550">
                  <a:extLst>
                    <a:ext uri="{9D8B030D-6E8A-4147-A177-3AD203B41FA5}">
                      <a16:colId xmlns:a16="http://schemas.microsoft.com/office/drawing/2014/main" val="205561277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487311968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2540217665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21421346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632893463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95528110"/>
                    </a:ext>
                  </a:extLst>
                </a:gridCol>
                <a:gridCol w="1669102">
                  <a:extLst>
                    <a:ext uri="{9D8B030D-6E8A-4147-A177-3AD203B41FA5}">
                      <a16:colId xmlns:a16="http://schemas.microsoft.com/office/drawing/2014/main" val="1875554283"/>
                    </a:ext>
                  </a:extLst>
                </a:gridCol>
              </a:tblGrid>
              <a:tr h="869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구분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Header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grid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 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53968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identify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len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requst/respons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812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633126"/>
                  </a:ext>
                </a:extLst>
              </a:tr>
              <a:tr h="6997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의미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'c0de'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고정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 length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0=FAN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1=CUR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2=TEMP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3=FP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4=DIMM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5=TCON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6=GPIO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10=PDO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(pc -&gt;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1=Response OK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-&gt; pc)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0xE=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Resp.Error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922910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TCON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x0_1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x91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0x11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Read 2B of 0x0191(CH4.N.PV Reg)</a:t>
                      </a:r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019426"/>
                  </a:ext>
                </a:extLst>
              </a:tr>
            </a:tbl>
          </a:graphicData>
        </a:graphic>
      </p:graphicFrame>
      <p:graphicFrame>
        <p:nvGraphicFramePr>
          <p:cNvPr id="8" name="표 3">
            <a:extLst>
              <a:ext uri="{FF2B5EF4-FFF2-40B4-BE49-F238E27FC236}">
                <a16:creationId xmlns:a16="http://schemas.microsoft.com/office/drawing/2014/main" id="{A9F95E1D-A3FE-D4A6-B447-749D9149C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425730"/>
              </p:ext>
            </p:extLst>
          </p:nvPr>
        </p:nvGraphicFramePr>
        <p:xfrm>
          <a:off x="139700" y="980779"/>
          <a:ext cx="888365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1441556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1930542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577892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2362374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612366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Type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Channel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Address</a:t>
                      </a:r>
                      <a:endParaRPr lang="zh-CN" altLang="en-US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Function ( Code / Description )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Data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4bit – 4bit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RS485_CH – REG_HI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REG_ADDR_LO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Write 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 Byte / 1 Reg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6570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4bit – 4bit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RS485_CH – REG_HI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REG_ADDR_LO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Read 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 Byte / 1 Reg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1513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SSR_CH_IDX ( 0 ~ 7 )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Set TCON 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 Byte / 1 EA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369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SSR_CH_IDX ( 0 ~ 15 )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Set TCON 0-Stop/1-Run/2-Tuning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2 Byte / 1EA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7936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SSR_CH_IDX ( 0 ~ 15 )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Get TCON 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2 Byte / 1 EA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7722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SSR_CH_IDX ( 0 ~ 15 )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Get TCON PV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2 Byte / 1 EA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9926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SSR_CH_IDX ( 0 ~ 15 )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Get TCON MV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2 Byte / 1 EA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8554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SSR_CH_IDX ( 0 ~ 15 )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Get TCON CH.STS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2 Byte / 1 EA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6674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SSR_CH_IDX ( 0 ~ 15 )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Get TCON ALM.STS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2 Byte / 1 EA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47148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C33E5AB-A1D8-394A-D7C2-CE95E7106BA7}"/>
              </a:ext>
            </a:extLst>
          </p:cNvPr>
          <p:cNvSpPr txBox="1"/>
          <p:nvPr/>
        </p:nvSpPr>
        <p:spPr>
          <a:xfrm>
            <a:off x="120650" y="4127760"/>
            <a:ext cx="35696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RS485_CH : 0 ~  3 ( 4EA SSR CH / 1EA RS485 )</a:t>
            </a:r>
          </a:p>
          <a:p>
            <a:r>
              <a:rPr lang="en-US" altLang="zh-CN" sz="1400" dirty="0">
                <a:solidFill>
                  <a:srgbClr val="FF0000"/>
                </a:solidFill>
              </a:rPr>
              <a:t>SSR_CH_IDX : 0 ~ 15</a:t>
            </a:r>
          </a:p>
          <a:p>
            <a:r>
              <a:rPr lang="en-US" altLang="zh-CN" sz="1400" dirty="0"/>
              <a:t>REG_ADDR : 0x000 ~ 0x1F3</a:t>
            </a:r>
            <a:endParaRPr lang="zh-CN" altLang="en-US" sz="14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F818936-C72C-6A41-7349-33D2FCA83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457" y="4837101"/>
            <a:ext cx="1448368" cy="151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03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1186449-AB89-5558-0806-E3FDC24DBFBB}"/>
              </a:ext>
            </a:extLst>
          </p:cNvPr>
          <p:cNvSpPr txBox="1"/>
          <p:nvPr/>
        </p:nvSpPr>
        <p:spPr>
          <a:xfrm>
            <a:off x="261258" y="249382"/>
            <a:ext cx="3788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TCON : M74 – PID Controller</a:t>
            </a:r>
            <a:endParaRPr lang="zh-CN" altLang="en-US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3AAF15-AD43-0E4B-E5B4-FDC2520DA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652" y="479499"/>
            <a:ext cx="4652379" cy="294950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70E79AA-FCE6-C8A1-03F4-0E92B6B51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859" y="3824256"/>
            <a:ext cx="5043934" cy="266389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30F337D-636E-868E-033E-98E9FC65235B}"/>
              </a:ext>
            </a:extLst>
          </p:cNvPr>
          <p:cNvSpPr/>
          <p:nvPr/>
        </p:nvSpPr>
        <p:spPr>
          <a:xfrm>
            <a:off x="6363241" y="498495"/>
            <a:ext cx="554540" cy="307946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F</a:t>
            </a:r>
          </a:p>
          <a:p>
            <a:pPr algn="ctr"/>
            <a:r>
              <a:rPr lang="en-US" altLang="zh-CN" b="1" dirty="0"/>
              <a:t>P</a:t>
            </a:r>
          </a:p>
          <a:p>
            <a:pPr algn="ctr"/>
            <a:r>
              <a:rPr lang="en-US" altLang="zh-CN" b="1" dirty="0"/>
              <a:t>G</a:t>
            </a:r>
          </a:p>
          <a:p>
            <a:pPr algn="ctr"/>
            <a:r>
              <a:rPr lang="en-US" altLang="zh-CN" b="1" dirty="0"/>
              <a:t>A</a:t>
            </a:r>
            <a:endParaRPr lang="zh-CN" altLang="en-US" b="1" dirty="0"/>
          </a:p>
        </p:txBody>
      </p:sp>
      <p:sp>
        <p:nvSpPr>
          <p:cNvPr id="7" name="사다리꼴 6">
            <a:extLst>
              <a:ext uri="{FF2B5EF4-FFF2-40B4-BE49-F238E27FC236}">
                <a16:creationId xmlns:a16="http://schemas.microsoft.com/office/drawing/2014/main" id="{018FFB56-5198-90B2-76C7-59FA904D5E42}"/>
              </a:ext>
            </a:extLst>
          </p:cNvPr>
          <p:cNvSpPr/>
          <p:nvPr/>
        </p:nvSpPr>
        <p:spPr>
          <a:xfrm>
            <a:off x="6127267" y="3596954"/>
            <a:ext cx="1026488" cy="227302"/>
          </a:xfrm>
          <a:prstGeom prst="trapezoid">
            <a:avLst>
              <a:gd name="adj" fmla="val 157365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4460B-8ACE-88E9-53B6-4FA62B591C48}"/>
              </a:ext>
            </a:extLst>
          </p:cNvPr>
          <p:cNvSpPr txBox="1"/>
          <p:nvPr/>
        </p:nvSpPr>
        <p:spPr>
          <a:xfrm>
            <a:off x="107875" y="1050085"/>
            <a:ext cx="38800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</a:rPr>
              <a:t>Seq</a:t>
            </a:r>
            <a:r>
              <a:rPr lang="ko-KR" altLang="en-US" sz="1600" dirty="0">
                <a:solidFill>
                  <a:srgbClr val="0000FF"/>
                </a:solidFill>
              </a:rPr>
              <a:t> </a:t>
            </a:r>
            <a:r>
              <a:rPr lang="en-US" altLang="ko-KR" sz="1600" dirty="0">
                <a:solidFill>
                  <a:srgbClr val="0000FF"/>
                </a:solidFill>
              </a:rPr>
              <a:t>:</a:t>
            </a:r>
            <a:r>
              <a:rPr lang="ko-KR" altLang="en-US" sz="1600" dirty="0">
                <a:solidFill>
                  <a:srgbClr val="0000FF"/>
                </a:solidFill>
              </a:rPr>
              <a:t> </a:t>
            </a:r>
            <a:endParaRPr lang="en-US" altLang="ko-KR" sz="1600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zh-CN" sz="1600" dirty="0">
                <a:solidFill>
                  <a:srgbClr val="0000FF"/>
                </a:solidFill>
              </a:rPr>
              <a:t>FPGA Power-On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rgbClr val="0000FF"/>
                </a:solidFill>
              </a:rPr>
              <a:t>SSR_CTRL = OFF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rgbClr val="0000FF"/>
                </a:solidFill>
              </a:rPr>
              <a:t>SSR IN/OUT/CH/ST-EN </a:t>
            </a:r>
            <a:r>
              <a:rPr lang="ko-KR" altLang="en-US" sz="1600" dirty="0">
                <a:solidFill>
                  <a:srgbClr val="0000FF"/>
                </a:solidFill>
              </a:rPr>
              <a:t>초기화</a:t>
            </a:r>
            <a:endParaRPr lang="en-US" altLang="ko-KR" sz="1600" dirty="0">
              <a:solidFill>
                <a:srgbClr val="0000FF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rgbClr val="0000FF"/>
                </a:solidFill>
              </a:rPr>
              <a:t>TCON </a:t>
            </a:r>
            <a:r>
              <a:rPr lang="ko-KR" altLang="en-US" sz="1600" dirty="0">
                <a:solidFill>
                  <a:srgbClr val="0000FF"/>
                </a:solidFill>
              </a:rPr>
              <a:t>초기화</a:t>
            </a:r>
            <a:endParaRPr lang="en-US" altLang="ko-KR" sz="1600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solidFill>
                  <a:srgbClr val="0000FF"/>
                </a:solidFill>
              </a:rPr>
              <a:t>Host </a:t>
            </a:r>
            <a:r>
              <a:rPr lang="ko-KR" altLang="en-US" sz="1600" dirty="0">
                <a:solidFill>
                  <a:srgbClr val="0000FF"/>
                </a:solidFill>
              </a:rPr>
              <a:t>제어</a:t>
            </a:r>
            <a:endParaRPr lang="en-US" altLang="ko-KR" sz="1600" dirty="0">
              <a:solidFill>
                <a:srgbClr val="0000FF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rgbClr val="0000FF"/>
                </a:solidFill>
              </a:rPr>
              <a:t>TCON SV </a:t>
            </a:r>
            <a:r>
              <a:rPr lang="ko-KR" altLang="en-US" sz="1600" dirty="0">
                <a:solidFill>
                  <a:srgbClr val="0000FF"/>
                </a:solidFill>
              </a:rPr>
              <a:t>설정</a:t>
            </a:r>
            <a:endParaRPr lang="en-US" altLang="ko-KR" sz="1600" dirty="0">
              <a:solidFill>
                <a:srgbClr val="0000FF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1600" dirty="0">
                <a:solidFill>
                  <a:srgbClr val="0000FF"/>
                </a:solidFill>
              </a:rPr>
              <a:t>TCON RUN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rgbClr val="0000FF"/>
                </a:solidFill>
              </a:rPr>
              <a:t>SSR_CTRL = 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rgbClr val="0000FF"/>
                </a:solidFill>
              </a:rPr>
              <a:t>DIMM</a:t>
            </a:r>
            <a:r>
              <a:rPr lang="ko-KR" altLang="en-US" sz="1600" dirty="0">
                <a:solidFill>
                  <a:srgbClr val="0000FF"/>
                </a:solidFill>
              </a:rPr>
              <a:t>온도에 따라 </a:t>
            </a:r>
            <a:r>
              <a:rPr lang="en-US" altLang="ko-KR" sz="1600" dirty="0">
                <a:solidFill>
                  <a:srgbClr val="0000FF"/>
                </a:solidFill>
              </a:rPr>
              <a:t>SV </a:t>
            </a:r>
            <a:r>
              <a:rPr lang="ko-KR" altLang="en-US" sz="1600" dirty="0">
                <a:solidFill>
                  <a:srgbClr val="0000FF"/>
                </a:solidFill>
              </a:rPr>
              <a:t>설정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rgbClr val="0000FF"/>
                </a:solidFill>
              </a:rPr>
              <a:t>SSR_CTRL = OFF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600" dirty="0">
                <a:solidFill>
                  <a:srgbClr val="0000FF"/>
                </a:solidFill>
              </a:rPr>
              <a:t>TCON STOP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B0790E5-03B5-F3FE-3506-8014DF4D2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7" y="5739552"/>
            <a:ext cx="5821825" cy="102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58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60FC2458-E1FA-37AB-A814-3849A51AA451}"/>
              </a:ext>
            </a:extLst>
          </p:cNvPr>
          <p:cNvSpPr txBox="1"/>
          <p:nvPr/>
        </p:nvSpPr>
        <p:spPr>
          <a:xfrm>
            <a:off x="261258" y="249382"/>
            <a:ext cx="987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GPIO :</a:t>
            </a:r>
            <a:endParaRPr lang="zh-CN" altLang="en-US" sz="24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0696C6-3E05-FAD8-71A9-F07B270D3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506417"/>
              </p:ext>
            </p:extLst>
          </p:nvPr>
        </p:nvGraphicFramePr>
        <p:xfrm>
          <a:off x="139702" y="4837101"/>
          <a:ext cx="7126522" cy="1604256"/>
        </p:xfrm>
        <a:graphic>
          <a:graphicData uri="http://schemas.openxmlformats.org/drawingml/2006/table">
            <a:tbl>
              <a:tblPr/>
              <a:tblGrid>
                <a:gridCol w="904097">
                  <a:extLst>
                    <a:ext uri="{9D8B030D-6E8A-4147-A177-3AD203B41FA5}">
                      <a16:colId xmlns:a16="http://schemas.microsoft.com/office/drawing/2014/main" val="499734751"/>
                    </a:ext>
                  </a:extLst>
                </a:gridCol>
                <a:gridCol w="498412">
                  <a:extLst>
                    <a:ext uri="{9D8B030D-6E8A-4147-A177-3AD203B41FA5}">
                      <a16:colId xmlns:a16="http://schemas.microsoft.com/office/drawing/2014/main" val="286720390"/>
                    </a:ext>
                  </a:extLst>
                </a:gridCol>
                <a:gridCol w="631709">
                  <a:extLst>
                    <a:ext uri="{9D8B030D-6E8A-4147-A177-3AD203B41FA5}">
                      <a16:colId xmlns:a16="http://schemas.microsoft.com/office/drawing/2014/main" val="418824082"/>
                    </a:ext>
                  </a:extLst>
                </a:gridCol>
                <a:gridCol w="587277">
                  <a:extLst>
                    <a:ext uri="{9D8B030D-6E8A-4147-A177-3AD203B41FA5}">
                      <a16:colId xmlns:a16="http://schemas.microsoft.com/office/drawing/2014/main" val="61977167"/>
                    </a:ext>
                  </a:extLst>
                </a:gridCol>
                <a:gridCol w="749550">
                  <a:extLst>
                    <a:ext uri="{9D8B030D-6E8A-4147-A177-3AD203B41FA5}">
                      <a16:colId xmlns:a16="http://schemas.microsoft.com/office/drawing/2014/main" val="205561277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487311968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2540217665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21421346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1875071329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95528110"/>
                    </a:ext>
                  </a:extLst>
                </a:gridCol>
                <a:gridCol w="1669102">
                  <a:extLst>
                    <a:ext uri="{9D8B030D-6E8A-4147-A177-3AD203B41FA5}">
                      <a16:colId xmlns:a16="http://schemas.microsoft.com/office/drawing/2014/main" val="1875554283"/>
                    </a:ext>
                  </a:extLst>
                </a:gridCol>
              </a:tblGrid>
              <a:tr h="869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구분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Header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grid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 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53968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identify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len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requst/respons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812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633126"/>
                  </a:ext>
                </a:extLst>
              </a:tr>
              <a:tr h="6997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의미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'c0de'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고정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 length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0=FAN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1=CUR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2=TEMP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3=FP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4=DIMM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5=TCON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6=GPIO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10=PDO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(pc -&gt;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1=Response OK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-&gt; pc)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0xE=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Resp.Error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922910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GPIO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xFF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Set SSR.Ch0.Ctrl = On</a:t>
                      </a:r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019426"/>
                  </a:ext>
                </a:extLst>
              </a:tr>
            </a:tbl>
          </a:graphicData>
        </a:graphic>
      </p:graphicFrame>
      <p:graphicFrame>
        <p:nvGraphicFramePr>
          <p:cNvPr id="8" name="표 3">
            <a:extLst>
              <a:ext uri="{FF2B5EF4-FFF2-40B4-BE49-F238E27FC236}">
                <a16:creationId xmlns:a16="http://schemas.microsoft.com/office/drawing/2014/main" id="{A9F95E1D-A3FE-D4A6-B447-749D9149C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178639"/>
              </p:ext>
            </p:extLst>
          </p:nvPr>
        </p:nvGraphicFramePr>
        <p:xfrm>
          <a:off x="139700" y="980779"/>
          <a:ext cx="888365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1441556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1930542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577892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2362374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612366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Type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Channel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Address</a:t>
                      </a:r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Function ( Code / Description )</a:t>
                      </a:r>
                      <a:endParaRPr lang="zh-CN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Data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0">
                <a:tc rowSpan="11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GPIO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Set SSR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zh-CN" sz="1400" dirty="0"/>
                        <a:t>Ctrl. : </a:t>
                      </a:r>
                      <a:r>
                        <a:rPr lang="en-US" altLang="zh-CN" sz="1400" dirty="0">
                          <a:solidFill>
                            <a:srgbClr val="0000FF"/>
                          </a:solidFill>
                        </a:rPr>
                        <a:t>0-Off</a:t>
                      </a:r>
                      <a:r>
                        <a:rPr lang="en-US" altLang="zh-CN" sz="1400" dirty="0"/>
                        <a:t>/1-On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 Byte / 1 EA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6570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Set SSR IN : </a:t>
                      </a:r>
                      <a:r>
                        <a:rPr lang="en-US" altLang="zh-CN" sz="1400" dirty="0">
                          <a:solidFill>
                            <a:srgbClr val="0000FF"/>
                          </a:solidFill>
                        </a:rPr>
                        <a:t>0-Bypass</a:t>
                      </a:r>
                      <a:r>
                        <a:rPr lang="en-US" altLang="zh-CN" sz="1400" dirty="0"/>
                        <a:t>/1-Inv.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 Byte / 1 EA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1513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Set SSR OUT : </a:t>
                      </a:r>
                      <a:r>
                        <a:rPr lang="en-US" altLang="zh-CN" sz="1400" dirty="0">
                          <a:solidFill>
                            <a:srgbClr val="0000FF"/>
                          </a:solidFill>
                        </a:rPr>
                        <a:t>0-Bypass</a:t>
                      </a:r>
                      <a:r>
                        <a:rPr lang="en-US" altLang="zh-CN" sz="1400" dirty="0"/>
                        <a:t>/1-Inv.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 Byte / 1 EA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369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Set SSR CH : </a:t>
                      </a:r>
                      <a:r>
                        <a:rPr lang="en-US" altLang="zh-CN" sz="1400" dirty="0">
                          <a:solidFill>
                            <a:srgbClr val="0000FF"/>
                          </a:solidFill>
                        </a:rPr>
                        <a:t>0-Single</a:t>
                      </a:r>
                      <a:r>
                        <a:rPr lang="en-US" altLang="zh-CN" sz="1400" dirty="0"/>
                        <a:t>/1-Dual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 Byte / 1 EA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41489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Set SSR ST EN : </a:t>
                      </a:r>
                      <a:r>
                        <a:rPr lang="en-US" altLang="zh-CN" sz="1400" dirty="0">
                          <a:solidFill>
                            <a:srgbClr val="0000FF"/>
                          </a:solidFill>
                        </a:rPr>
                        <a:t>0-Dis</a:t>
                      </a:r>
                      <a:r>
                        <a:rPr lang="en-US" altLang="zh-CN" sz="1400" dirty="0"/>
                        <a:t>/1-En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 Byte / 1 EA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272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Set Ext FAN Ctrl. : </a:t>
                      </a:r>
                      <a:r>
                        <a:rPr lang="en-US" altLang="zh-CN" sz="1400" dirty="0">
                          <a:solidFill>
                            <a:srgbClr val="0000FF"/>
                          </a:solidFill>
                        </a:rPr>
                        <a:t>0-Off</a:t>
                      </a:r>
                      <a:r>
                        <a:rPr lang="en-US" altLang="zh-CN" sz="1400" dirty="0"/>
                        <a:t>/1-On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 Byte / 1 EA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7261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Set Pump Ctrl. : </a:t>
                      </a:r>
                      <a:r>
                        <a:rPr lang="en-US" altLang="zh-CN" sz="1400" dirty="0">
                          <a:solidFill>
                            <a:srgbClr val="0000FF"/>
                          </a:solidFill>
                        </a:rPr>
                        <a:t>0-Off</a:t>
                      </a:r>
                      <a:r>
                        <a:rPr lang="en-US" altLang="zh-CN" sz="1400" dirty="0"/>
                        <a:t>/1-On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 Byte / 1 EA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3573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Set RAD FAN Ctrl. : </a:t>
                      </a:r>
                      <a:r>
                        <a:rPr lang="en-US" altLang="zh-CN" sz="1400" dirty="0">
                          <a:solidFill>
                            <a:srgbClr val="0000FF"/>
                          </a:solidFill>
                        </a:rPr>
                        <a:t>0-Off</a:t>
                      </a:r>
                      <a:r>
                        <a:rPr lang="en-US" altLang="zh-CN" sz="1400" dirty="0"/>
                        <a:t>/1-On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 Byte / 1 EA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4081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Get Slot ID : 0 ~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 Byte / 1 EA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665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Get BD Con Check : 0-N/1-Yes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 Byte / 1 EA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9831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0xFF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0x00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0x1A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Get Slide Close : 0-No/1-Yes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 Byte / 1 EA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2765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045F713-7C5D-65F2-7A10-3762538421D2}"/>
              </a:ext>
            </a:extLst>
          </p:cNvPr>
          <p:cNvSpPr txBox="1"/>
          <p:nvPr/>
        </p:nvSpPr>
        <p:spPr>
          <a:xfrm>
            <a:off x="3212875" y="47311"/>
            <a:ext cx="44251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</a:rPr>
              <a:t>Default : blue color</a:t>
            </a:r>
          </a:p>
          <a:p>
            <a:r>
              <a:rPr lang="en-US" altLang="zh-CN" sz="1400" dirty="0">
                <a:solidFill>
                  <a:srgbClr val="0000FF"/>
                </a:solidFill>
              </a:rPr>
              <a:t>Func.0x10 ~ 12 : 1 bit </a:t>
            </a:r>
            <a:r>
              <a:rPr lang="ko-KR" altLang="en-US" sz="1400" dirty="0">
                <a:solidFill>
                  <a:srgbClr val="0000FF"/>
                </a:solidFill>
              </a:rPr>
              <a:t>별로 </a:t>
            </a:r>
            <a:r>
              <a:rPr lang="en-US" altLang="ko-KR" sz="1400" dirty="0">
                <a:solidFill>
                  <a:srgbClr val="0000FF"/>
                </a:solidFill>
              </a:rPr>
              <a:t>SSR 1ea </a:t>
            </a:r>
            <a:r>
              <a:rPr lang="ko-KR" altLang="en-US" sz="1400" dirty="0">
                <a:solidFill>
                  <a:srgbClr val="0000FF"/>
                </a:solidFill>
              </a:rPr>
              <a:t>채널 제어</a:t>
            </a:r>
            <a:endParaRPr lang="en-US" altLang="ko-KR" sz="1400" dirty="0">
              <a:solidFill>
                <a:srgbClr val="0000FF"/>
              </a:solidFill>
            </a:endParaRPr>
          </a:p>
          <a:p>
            <a:r>
              <a:rPr lang="en-US" altLang="zh-CN" sz="1400" dirty="0" err="1">
                <a:solidFill>
                  <a:srgbClr val="0000FF"/>
                </a:solidFill>
              </a:rPr>
              <a:t>SSR.CTRL.Off</a:t>
            </a:r>
            <a:r>
              <a:rPr lang="en-US" altLang="zh-CN" sz="1400" dirty="0">
                <a:solidFill>
                  <a:srgbClr val="0000FF"/>
                </a:solidFill>
              </a:rPr>
              <a:t> </a:t>
            </a:r>
            <a:r>
              <a:rPr lang="ko-KR" altLang="en-US" sz="1400" dirty="0">
                <a:solidFill>
                  <a:srgbClr val="0000FF"/>
                </a:solidFill>
              </a:rPr>
              <a:t>인 경우에만</a:t>
            </a:r>
            <a:r>
              <a:rPr lang="en-US" altLang="ko-KR" sz="1400" dirty="0">
                <a:solidFill>
                  <a:srgbClr val="0000FF"/>
                </a:solidFill>
              </a:rPr>
              <a:t>, </a:t>
            </a:r>
            <a:r>
              <a:rPr lang="en-US" altLang="ko-KR" sz="1400" dirty="0" err="1">
                <a:solidFill>
                  <a:srgbClr val="0000FF"/>
                </a:solidFill>
              </a:rPr>
              <a:t>SSR.In</a:t>
            </a:r>
            <a:r>
              <a:rPr lang="en-US" altLang="ko-KR" sz="1400" dirty="0">
                <a:solidFill>
                  <a:srgbClr val="0000FF"/>
                </a:solidFill>
              </a:rPr>
              <a:t>/Out/Ch </a:t>
            </a:r>
            <a:r>
              <a:rPr lang="ko-KR" altLang="en-US" sz="1400" dirty="0">
                <a:solidFill>
                  <a:srgbClr val="0000FF"/>
                </a:solidFill>
              </a:rPr>
              <a:t>설정 변경 가능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358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60FC2458-E1FA-37AB-A814-3849A51AA451}"/>
              </a:ext>
            </a:extLst>
          </p:cNvPr>
          <p:cNvSpPr txBox="1"/>
          <p:nvPr/>
        </p:nvSpPr>
        <p:spPr>
          <a:xfrm>
            <a:off x="261258" y="249382"/>
            <a:ext cx="987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GPIO :</a:t>
            </a:r>
            <a:endParaRPr lang="zh-CN" altLang="en-US" sz="24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0696C6-3E05-FAD8-71A9-F07B270D3ED7}"/>
              </a:ext>
            </a:extLst>
          </p:cNvPr>
          <p:cNvGraphicFramePr>
            <a:graphicFrameLocks noGrp="1"/>
          </p:cNvGraphicFramePr>
          <p:nvPr/>
        </p:nvGraphicFramePr>
        <p:xfrm>
          <a:off x="139702" y="4837101"/>
          <a:ext cx="7126522" cy="1604256"/>
        </p:xfrm>
        <a:graphic>
          <a:graphicData uri="http://schemas.openxmlformats.org/drawingml/2006/table">
            <a:tbl>
              <a:tblPr/>
              <a:tblGrid>
                <a:gridCol w="904097">
                  <a:extLst>
                    <a:ext uri="{9D8B030D-6E8A-4147-A177-3AD203B41FA5}">
                      <a16:colId xmlns:a16="http://schemas.microsoft.com/office/drawing/2014/main" val="499734751"/>
                    </a:ext>
                  </a:extLst>
                </a:gridCol>
                <a:gridCol w="498412">
                  <a:extLst>
                    <a:ext uri="{9D8B030D-6E8A-4147-A177-3AD203B41FA5}">
                      <a16:colId xmlns:a16="http://schemas.microsoft.com/office/drawing/2014/main" val="286720390"/>
                    </a:ext>
                  </a:extLst>
                </a:gridCol>
                <a:gridCol w="631709">
                  <a:extLst>
                    <a:ext uri="{9D8B030D-6E8A-4147-A177-3AD203B41FA5}">
                      <a16:colId xmlns:a16="http://schemas.microsoft.com/office/drawing/2014/main" val="418824082"/>
                    </a:ext>
                  </a:extLst>
                </a:gridCol>
                <a:gridCol w="587277">
                  <a:extLst>
                    <a:ext uri="{9D8B030D-6E8A-4147-A177-3AD203B41FA5}">
                      <a16:colId xmlns:a16="http://schemas.microsoft.com/office/drawing/2014/main" val="61977167"/>
                    </a:ext>
                  </a:extLst>
                </a:gridCol>
                <a:gridCol w="749550">
                  <a:extLst>
                    <a:ext uri="{9D8B030D-6E8A-4147-A177-3AD203B41FA5}">
                      <a16:colId xmlns:a16="http://schemas.microsoft.com/office/drawing/2014/main" val="205561277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487311968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2540217665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3214213464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1875071329"/>
                    </a:ext>
                  </a:extLst>
                </a:gridCol>
                <a:gridCol w="417275">
                  <a:extLst>
                    <a:ext uri="{9D8B030D-6E8A-4147-A177-3AD203B41FA5}">
                      <a16:colId xmlns:a16="http://schemas.microsoft.com/office/drawing/2014/main" val="95528110"/>
                    </a:ext>
                  </a:extLst>
                </a:gridCol>
                <a:gridCol w="1669102">
                  <a:extLst>
                    <a:ext uri="{9D8B030D-6E8A-4147-A177-3AD203B41FA5}">
                      <a16:colId xmlns:a16="http://schemas.microsoft.com/office/drawing/2014/main" val="1875554283"/>
                    </a:ext>
                  </a:extLst>
                </a:gridCol>
              </a:tblGrid>
              <a:tr h="869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구분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Header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gridSpan="5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 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Note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553968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identify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len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requst/respons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812"/>
                  </a:ext>
                </a:extLst>
              </a:tr>
              <a:tr h="869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1byte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633126"/>
                  </a:ext>
                </a:extLst>
              </a:tr>
              <a:tr h="6997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의미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'c0de'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고정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data length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0=FAN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1=CUR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2=TEMP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3=FP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4=DIMM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5=TCON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6=GPIO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10=PDO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Requst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(pc -&gt;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1=Response OK</a:t>
                      </a:r>
                      <a:b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fpga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-&gt; pc)</a:t>
                      </a: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0xE=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Resp.Error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922910"/>
                  </a:ext>
                </a:extLst>
              </a:tr>
              <a:tr h="4062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GPIO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0xC0DE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xFF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0x10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0x01</a:t>
                      </a: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Set SSR.Ch0.Ctrl = On</a:t>
                      </a:r>
                      <a:endParaRPr lang="zh-CN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130" marR="6130" marT="613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01942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045F713-7C5D-65F2-7A10-3762538421D2}"/>
              </a:ext>
            </a:extLst>
          </p:cNvPr>
          <p:cNvSpPr txBox="1"/>
          <p:nvPr/>
        </p:nvSpPr>
        <p:spPr>
          <a:xfrm>
            <a:off x="3212875" y="47311"/>
            <a:ext cx="44251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</a:rPr>
              <a:t>Default : blue color</a:t>
            </a:r>
          </a:p>
          <a:p>
            <a:r>
              <a:rPr lang="en-US" altLang="zh-CN" sz="1400" dirty="0">
                <a:solidFill>
                  <a:srgbClr val="0000FF"/>
                </a:solidFill>
              </a:rPr>
              <a:t>Func.0x10 ~ 12 : 1 bit </a:t>
            </a:r>
            <a:r>
              <a:rPr lang="ko-KR" altLang="en-US" sz="1400" dirty="0">
                <a:solidFill>
                  <a:srgbClr val="0000FF"/>
                </a:solidFill>
              </a:rPr>
              <a:t>별로 </a:t>
            </a:r>
            <a:r>
              <a:rPr lang="en-US" altLang="ko-KR" sz="1400" dirty="0">
                <a:solidFill>
                  <a:srgbClr val="0000FF"/>
                </a:solidFill>
              </a:rPr>
              <a:t>SSR 1ea </a:t>
            </a:r>
            <a:r>
              <a:rPr lang="ko-KR" altLang="en-US" sz="1400" dirty="0">
                <a:solidFill>
                  <a:srgbClr val="0000FF"/>
                </a:solidFill>
              </a:rPr>
              <a:t>채널 제어</a:t>
            </a:r>
            <a:endParaRPr lang="en-US" altLang="ko-KR" sz="1400" dirty="0">
              <a:solidFill>
                <a:srgbClr val="0000FF"/>
              </a:solidFill>
            </a:endParaRPr>
          </a:p>
          <a:p>
            <a:r>
              <a:rPr lang="en-US" altLang="zh-CN" sz="1400" dirty="0" err="1">
                <a:solidFill>
                  <a:srgbClr val="0000FF"/>
                </a:solidFill>
              </a:rPr>
              <a:t>SSR.CTRL.Off</a:t>
            </a:r>
            <a:r>
              <a:rPr lang="en-US" altLang="zh-CN" sz="1400" dirty="0">
                <a:solidFill>
                  <a:srgbClr val="0000FF"/>
                </a:solidFill>
              </a:rPr>
              <a:t> </a:t>
            </a:r>
            <a:r>
              <a:rPr lang="ko-KR" altLang="en-US" sz="1400" dirty="0">
                <a:solidFill>
                  <a:srgbClr val="0000FF"/>
                </a:solidFill>
              </a:rPr>
              <a:t>인 경우에만</a:t>
            </a:r>
            <a:r>
              <a:rPr lang="en-US" altLang="ko-KR" sz="1400" dirty="0">
                <a:solidFill>
                  <a:srgbClr val="0000FF"/>
                </a:solidFill>
              </a:rPr>
              <a:t>, </a:t>
            </a:r>
            <a:r>
              <a:rPr lang="en-US" altLang="ko-KR" sz="1400" dirty="0" err="1">
                <a:solidFill>
                  <a:srgbClr val="0000FF"/>
                </a:solidFill>
              </a:rPr>
              <a:t>SSR.In</a:t>
            </a:r>
            <a:r>
              <a:rPr lang="en-US" altLang="ko-KR" sz="1400" dirty="0">
                <a:solidFill>
                  <a:srgbClr val="0000FF"/>
                </a:solidFill>
              </a:rPr>
              <a:t>/Out/Ch </a:t>
            </a:r>
            <a:r>
              <a:rPr lang="ko-KR" altLang="en-US" sz="1400" dirty="0">
                <a:solidFill>
                  <a:srgbClr val="0000FF"/>
                </a:solidFill>
              </a:rPr>
              <a:t>설정 변경 가능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E79C42C-86CC-AF0D-C8E9-3953B5E1A947}"/>
              </a:ext>
            </a:extLst>
          </p:cNvPr>
          <p:cNvGraphicFramePr>
            <a:graphicFrameLocks noGrp="1"/>
          </p:cNvGraphicFramePr>
          <p:nvPr/>
        </p:nvGraphicFramePr>
        <p:xfrm>
          <a:off x="94198" y="1249974"/>
          <a:ext cx="8607117" cy="30772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0644">
                  <a:extLst>
                    <a:ext uri="{9D8B030D-6E8A-4147-A177-3AD203B41FA5}">
                      <a16:colId xmlns:a16="http://schemas.microsoft.com/office/drawing/2014/main" val="3019702275"/>
                    </a:ext>
                  </a:extLst>
                </a:gridCol>
                <a:gridCol w="630644">
                  <a:extLst>
                    <a:ext uri="{9D8B030D-6E8A-4147-A177-3AD203B41FA5}">
                      <a16:colId xmlns:a16="http://schemas.microsoft.com/office/drawing/2014/main" val="2530985981"/>
                    </a:ext>
                  </a:extLst>
                </a:gridCol>
                <a:gridCol w="630644">
                  <a:extLst>
                    <a:ext uri="{9D8B030D-6E8A-4147-A177-3AD203B41FA5}">
                      <a16:colId xmlns:a16="http://schemas.microsoft.com/office/drawing/2014/main" val="4107023292"/>
                    </a:ext>
                  </a:extLst>
                </a:gridCol>
                <a:gridCol w="1599966">
                  <a:extLst>
                    <a:ext uri="{9D8B030D-6E8A-4147-A177-3AD203B41FA5}">
                      <a16:colId xmlns:a16="http://schemas.microsoft.com/office/drawing/2014/main" val="208422002"/>
                    </a:ext>
                  </a:extLst>
                </a:gridCol>
                <a:gridCol w="1705073">
                  <a:extLst>
                    <a:ext uri="{9D8B030D-6E8A-4147-A177-3AD203B41FA5}">
                      <a16:colId xmlns:a16="http://schemas.microsoft.com/office/drawing/2014/main" val="1843550112"/>
                    </a:ext>
                  </a:extLst>
                </a:gridCol>
                <a:gridCol w="1799060">
                  <a:extLst>
                    <a:ext uri="{9D8B030D-6E8A-4147-A177-3AD203B41FA5}">
                      <a16:colId xmlns:a16="http://schemas.microsoft.com/office/drawing/2014/main" val="1804982625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4283778336"/>
                    </a:ext>
                  </a:extLst>
                </a:gridCol>
              </a:tblGrid>
              <a:tr h="2837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Type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Channel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Address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Function ( Code / Description )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Discription</a:t>
                      </a:r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Data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110278"/>
                  </a:ext>
                </a:extLst>
              </a:tr>
              <a:tr h="434537">
                <a:tc rowSpan="11"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GPIO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0xFF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Set SSR Ctrl. : 0-Off/1-On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Temp Ctrl On/OFF (4CH) 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chamber Run/Stop</a:t>
                      </a:r>
                      <a:r>
                        <a:rPr lang="ko-KR" altLang="en-US" sz="800" u="none" strike="noStrike">
                          <a:effectLst/>
                        </a:rPr>
                        <a:t>정도로 생각하면 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8 BIT(2Bit 4CH)  / 1 Byte / 1 EA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1709996966"/>
                  </a:ext>
                </a:extLst>
              </a:tr>
              <a:tr h="2039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0xFF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0x11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Set SSR IN : 0-Bypass/1-Inv.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회로도 초기 설정 조정용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in/out </a:t>
                      </a:r>
                      <a:r>
                        <a:rPr lang="ko-KR" altLang="en-US" sz="800" u="none" strike="noStrike" dirty="0">
                          <a:effectLst/>
                        </a:rPr>
                        <a:t>따로  </a:t>
                      </a:r>
                      <a:r>
                        <a:rPr lang="en-US" altLang="ko-KR" sz="800" u="none" strike="noStrike" dirty="0">
                          <a:effectLst/>
                        </a:rPr>
                        <a:t>Config </a:t>
                      </a:r>
                      <a:r>
                        <a:rPr lang="ko-KR" altLang="en-US" sz="800" u="none" strike="noStrike" dirty="0">
                          <a:effectLst/>
                        </a:rPr>
                        <a:t>값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8 BIT(2Bit 4CH) Byte / 1 EA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4133162390"/>
                  </a:ext>
                </a:extLst>
              </a:tr>
              <a:tr h="2039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0xFF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0x12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Set SSR OUT : 0-Bypass/1-Inv.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8 BIT(2Bit 4CH) Byte / 1 EA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4045207365"/>
                  </a:ext>
                </a:extLst>
              </a:tr>
              <a:tr h="2039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0xFF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0x13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Set SSR CH : 0-Single/1-Dual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Tem Ctrl CH? Config</a:t>
                      </a:r>
                      <a:r>
                        <a:rPr lang="ko-KR" altLang="en-US" sz="800" u="none" strike="noStrike">
                          <a:effectLst/>
                        </a:rPr>
                        <a:t>값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8 BIT(2Bit 4CH) 1 Byte / 1 EA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382686906"/>
                  </a:ext>
                </a:extLst>
              </a:tr>
              <a:tr h="4345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0xFF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0x14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da-DK" sz="800" u="none" strike="noStrike">
                          <a:effectLst/>
                        </a:rPr>
                        <a:t>Set SSR ST EN : 0-Dis/1-En</a:t>
                      </a:r>
                      <a:endParaRPr lang="da-DK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Config</a:t>
                      </a:r>
                      <a:r>
                        <a:rPr lang="ko-KR" altLang="en-US" sz="800" u="none" strike="noStrike" dirty="0">
                          <a:effectLst/>
                        </a:rPr>
                        <a:t>값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 Byte / 1 EA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1211056854"/>
                  </a:ext>
                </a:extLst>
              </a:tr>
              <a:tr h="2039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0xFF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0x00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0x15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Set Ext FAN Ctrl. : 0-Off/1-On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8Bit On/Off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1 Byte / 1 EA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906714675"/>
                  </a:ext>
                </a:extLst>
              </a:tr>
              <a:tr h="2039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0xFF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0x16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Set Pump Ctrl. : 0-Off/1-On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8Bit On/Off </a:t>
                      </a:r>
                      <a:r>
                        <a:rPr lang="ko-KR" altLang="en-US" sz="800" u="none" strike="noStrike">
                          <a:effectLst/>
                        </a:rPr>
                        <a:t>이것도 </a:t>
                      </a:r>
                      <a:r>
                        <a:rPr lang="en-US" sz="800" u="none" strike="noStrike">
                          <a:effectLst/>
                        </a:rPr>
                        <a:t>Fan</a:t>
                      </a:r>
                      <a:r>
                        <a:rPr lang="ko-KR" altLang="en-US" sz="800" u="none" strike="noStrike">
                          <a:effectLst/>
                        </a:rPr>
                        <a:t>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 Byte / 1 EA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873869530"/>
                  </a:ext>
                </a:extLst>
              </a:tr>
              <a:tr h="2039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0xFF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0x17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Set RAD FAN Ctrl. : 0-Off/1-On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8Bit On/Off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 Byte / 1 EA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3329778528"/>
                  </a:ext>
                </a:extLst>
              </a:tr>
              <a:tr h="2926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0xFF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0x18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Get Slot ID : 0 ~ 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 와 같이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identify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값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. IP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와 확인정도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? 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 Byte / 1 EA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307738779"/>
                  </a:ext>
                </a:extLst>
              </a:tr>
              <a:tr h="2039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0xFF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0x19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Get BD Con Check : 0-N/1-Yes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 err="1">
                          <a:effectLst/>
                        </a:rPr>
                        <a:t>MainBoard</a:t>
                      </a:r>
                      <a:r>
                        <a:rPr lang="en-US" sz="800" u="none" strike="noStrike" dirty="0">
                          <a:effectLst/>
                        </a:rPr>
                        <a:t> Contact?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 BIT / 1 Byte / 1 EA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2064464900"/>
                  </a:ext>
                </a:extLst>
              </a:tr>
              <a:tr h="2039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0xFF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0x1A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Get Slide Close : 0-No/1-Yes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Box Open / Close?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1 BIT / 1 Byte / 1 EA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3248609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699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60FC2458-E1FA-37AB-A814-3849A51AA451}"/>
              </a:ext>
            </a:extLst>
          </p:cNvPr>
          <p:cNvSpPr txBox="1"/>
          <p:nvPr/>
        </p:nvSpPr>
        <p:spPr>
          <a:xfrm>
            <a:off x="261258" y="249382"/>
            <a:ext cx="4422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PDO : Pre-Defined Operation [ 1 ]</a:t>
            </a:r>
            <a:endParaRPr lang="zh-CN" altLang="en-US" sz="2400" b="1" dirty="0"/>
          </a:p>
        </p:txBody>
      </p:sp>
      <p:graphicFrame>
        <p:nvGraphicFramePr>
          <p:cNvPr id="8" name="표 3">
            <a:extLst>
              <a:ext uri="{FF2B5EF4-FFF2-40B4-BE49-F238E27FC236}">
                <a16:creationId xmlns:a16="http://schemas.microsoft.com/office/drawing/2014/main" id="{A9F95E1D-A3FE-D4A6-B447-749D9149C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823418"/>
              </p:ext>
            </p:extLst>
          </p:nvPr>
        </p:nvGraphicFramePr>
        <p:xfrm>
          <a:off x="139700" y="980779"/>
          <a:ext cx="888365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1441556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1930542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577892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2362374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612366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Type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Channel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Address</a:t>
                      </a:r>
                      <a:endParaRPr lang="zh-CN" altLang="en-US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Function ( Code / Description )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Data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Project 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32 Byte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6570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Read All Status ( FAN, CUR, …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241 Byte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1513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Read All I/F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8 Byte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369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altLang="zh-CN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78295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altLang="zh-CN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257553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AF54FB7A-DCFD-37C7-85BE-6218E4FE8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282" y="3234333"/>
            <a:ext cx="4343597" cy="3546974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9B9891C-32AD-417D-95DA-768172D9C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700167"/>
              </p:ext>
            </p:extLst>
          </p:nvPr>
        </p:nvGraphicFramePr>
        <p:xfrm>
          <a:off x="139700" y="3528285"/>
          <a:ext cx="4089401" cy="2977515"/>
        </p:xfrm>
        <a:graphic>
          <a:graphicData uri="http://schemas.openxmlformats.org/drawingml/2006/table">
            <a:tbl>
              <a:tblPr/>
              <a:tblGrid>
                <a:gridCol w="583747">
                  <a:extLst>
                    <a:ext uri="{9D8B030D-6E8A-4147-A177-3AD203B41FA5}">
                      <a16:colId xmlns:a16="http://schemas.microsoft.com/office/drawing/2014/main" val="3517171689"/>
                    </a:ext>
                  </a:extLst>
                </a:gridCol>
                <a:gridCol w="1091353">
                  <a:extLst>
                    <a:ext uri="{9D8B030D-6E8A-4147-A177-3AD203B41FA5}">
                      <a16:colId xmlns:a16="http://schemas.microsoft.com/office/drawing/2014/main" val="3013122934"/>
                    </a:ext>
                  </a:extLst>
                </a:gridCol>
                <a:gridCol w="951761">
                  <a:extLst>
                    <a:ext uri="{9D8B030D-6E8A-4147-A177-3AD203B41FA5}">
                      <a16:colId xmlns:a16="http://schemas.microsoft.com/office/drawing/2014/main" val="2837009262"/>
                    </a:ext>
                  </a:extLst>
                </a:gridCol>
                <a:gridCol w="748719">
                  <a:extLst>
                    <a:ext uri="{9D8B030D-6E8A-4147-A177-3AD203B41FA5}">
                      <a16:colId xmlns:a16="http://schemas.microsoft.com/office/drawing/2014/main" val="1235535140"/>
                    </a:ext>
                  </a:extLst>
                </a:gridCol>
                <a:gridCol w="713821">
                  <a:extLst>
                    <a:ext uri="{9D8B030D-6E8A-4147-A177-3AD203B41FA5}">
                      <a16:colId xmlns:a16="http://schemas.microsoft.com/office/drawing/2014/main" val="3609669544"/>
                    </a:ext>
                  </a:extLst>
                </a:gridCol>
              </a:tblGrid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Byte / 1EA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Count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Bytes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309627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 Tach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545380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CUR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782276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BL TEMP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28174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DIMM TEMP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06726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TCON-N.SV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0677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TCON-N.PV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8811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TCON-MV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948114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TCON-CH.STS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213366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TCON-ALM.STS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143829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14771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TCON-TUNING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245223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COOLER-N.PV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808738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GPIO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953494"/>
                  </a:ext>
                </a:extLst>
              </a:tr>
              <a:tr h="94352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097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631B81D-A151-8A38-07CF-15546065EEBB}"/>
              </a:ext>
            </a:extLst>
          </p:cNvPr>
          <p:cNvSpPr txBox="1"/>
          <p:nvPr/>
        </p:nvSpPr>
        <p:spPr>
          <a:xfrm>
            <a:off x="139700" y="2676992"/>
            <a:ext cx="2249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</a:rPr>
              <a:t>Project Ver </a:t>
            </a:r>
            <a:r>
              <a:rPr lang="en-US" altLang="zh-CN" sz="1400" dirty="0"/>
              <a:t>: 32B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“HTC Rev0.50@230719”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48D6-9832-3542-B886-AC0C720C0279}"/>
              </a:ext>
            </a:extLst>
          </p:cNvPr>
          <p:cNvSpPr txBox="1"/>
          <p:nvPr/>
        </p:nvSpPr>
        <p:spPr>
          <a:xfrm>
            <a:off x="139700" y="3200212"/>
            <a:ext cx="1363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</a:rPr>
              <a:t>All Status </a:t>
            </a:r>
            <a:r>
              <a:rPr lang="en-US" altLang="zh-CN" sz="1400" dirty="0"/>
              <a:t>: 241B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04D0503-F5E0-E7C4-EAAF-6FC5F0A46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398238"/>
              </p:ext>
            </p:extLst>
          </p:nvPr>
        </p:nvGraphicFramePr>
        <p:xfrm>
          <a:off x="6596411" y="2626699"/>
          <a:ext cx="2235200" cy="3810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65433428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62587383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384706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08079768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51166827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970852787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94292324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3857616379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8965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576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ABD1A5-EAC5-2805-BE5C-F2A194A220BC}"/>
              </a:ext>
            </a:extLst>
          </p:cNvPr>
          <p:cNvSpPr txBox="1"/>
          <p:nvPr/>
        </p:nvSpPr>
        <p:spPr>
          <a:xfrm>
            <a:off x="4809481" y="2951946"/>
            <a:ext cx="4265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TCON-RUN/TUNING : 1-bit / 1-ch, 0 for stop – 1 for </a:t>
            </a:r>
            <a:r>
              <a:rPr lang="en-US" altLang="zh-CN" sz="1400" dirty="0" err="1"/>
              <a:t>ing</a:t>
            </a:r>
            <a:r>
              <a:rPr lang="en-US" altLang="zh-CN" sz="1400" dirty="0"/>
              <a:t>…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28760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60FC2458-E1FA-37AB-A814-3849A51AA451}"/>
              </a:ext>
            </a:extLst>
          </p:cNvPr>
          <p:cNvSpPr txBox="1"/>
          <p:nvPr/>
        </p:nvSpPr>
        <p:spPr>
          <a:xfrm>
            <a:off x="261258" y="249382"/>
            <a:ext cx="4422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PDO : Pre-Defined Operation [ 2 ]</a:t>
            </a:r>
            <a:endParaRPr lang="zh-CN" altLang="en-US" sz="2400" b="1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9B9891C-32AD-417D-95DA-768172D9C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48176"/>
              </p:ext>
            </p:extLst>
          </p:nvPr>
        </p:nvGraphicFramePr>
        <p:xfrm>
          <a:off x="139700" y="3224176"/>
          <a:ext cx="4089401" cy="3152775"/>
        </p:xfrm>
        <a:graphic>
          <a:graphicData uri="http://schemas.openxmlformats.org/drawingml/2006/table">
            <a:tbl>
              <a:tblPr/>
              <a:tblGrid>
                <a:gridCol w="583747">
                  <a:extLst>
                    <a:ext uri="{9D8B030D-6E8A-4147-A177-3AD203B41FA5}">
                      <a16:colId xmlns:a16="http://schemas.microsoft.com/office/drawing/2014/main" val="3517171689"/>
                    </a:ext>
                  </a:extLst>
                </a:gridCol>
                <a:gridCol w="1091353">
                  <a:extLst>
                    <a:ext uri="{9D8B030D-6E8A-4147-A177-3AD203B41FA5}">
                      <a16:colId xmlns:a16="http://schemas.microsoft.com/office/drawing/2014/main" val="3013122934"/>
                    </a:ext>
                  </a:extLst>
                </a:gridCol>
                <a:gridCol w="951761">
                  <a:extLst>
                    <a:ext uri="{9D8B030D-6E8A-4147-A177-3AD203B41FA5}">
                      <a16:colId xmlns:a16="http://schemas.microsoft.com/office/drawing/2014/main" val="2837009262"/>
                    </a:ext>
                  </a:extLst>
                </a:gridCol>
                <a:gridCol w="748719">
                  <a:extLst>
                    <a:ext uri="{9D8B030D-6E8A-4147-A177-3AD203B41FA5}">
                      <a16:colId xmlns:a16="http://schemas.microsoft.com/office/drawing/2014/main" val="1235535140"/>
                    </a:ext>
                  </a:extLst>
                </a:gridCol>
                <a:gridCol w="713821">
                  <a:extLst>
                    <a:ext uri="{9D8B030D-6E8A-4147-A177-3AD203B41FA5}">
                      <a16:colId xmlns:a16="http://schemas.microsoft.com/office/drawing/2014/main" val="3609669544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Byte / 1EA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Bytes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30962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 I2C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54538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CUR I2C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78227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TEMP I2C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2817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 RS485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0672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067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881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94811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21336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14382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1477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0" i="0" u="none" strike="noStrike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61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808738"/>
                  </a:ext>
                </a:extLst>
              </a:tr>
              <a:tr h="29527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0977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6EB48D6-9832-3542-B886-AC0C720C0279}"/>
              </a:ext>
            </a:extLst>
          </p:cNvPr>
          <p:cNvSpPr txBox="1"/>
          <p:nvPr/>
        </p:nvSpPr>
        <p:spPr>
          <a:xfrm>
            <a:off x="139700" y="2896103"/>
            <a:ext cx="1416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</a:rPr>
              <a:t>All I/F Status </a:t>
            </a:r>
            <a:r>
              <a:rPr lang="en-US" altLang="zh-CN" sz="1400" dirty="0"/>
              <a:t>: 8B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79142-C06F-046D-28DF-E5F6A486F070}"/>
              </a:ext>
            </a:extLst>
          </p:cNvPr>
          <p:cNvSpPr txBox="1"/>
          <p:nvPr/>
        </p:nvSpPr>
        <p:spPr>
          <a:xfrm>
            <a:off x="4464122" y="4021848"/>
            <a:ext cx="205947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1-bit for 1-I/F Status : 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0 : Pass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1 : Fail</a:t>
            </a:r>
          </a:p>
          <a:p>
            <a:endParaRPr lang="en-US" altLang="zh-CN" sz="1600" dirty="0"/>
          </a:p>
          <a:p>
            <a:r>
              <a:rPr lang="en-US" altLang="zh-CN" sz="1600" dirty="0"/>
              <a:t>I/F Type &amp; Count : 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FAN I2C : 0 ~ 4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CUR I2C : 0 ~ 10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TEMP I2C : 0 ~ 7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TCON RS485 : 0 ~ 3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A807822-4422-004A-416B-567AD3E06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066899"/>
              </p:ext>
            </p:extLst>
          </p:nvPr>
        </p:nvGraphicFramePr>
        <p:xfrm>
          <a:off x="4464122" y="3472588"/>
          <a:ext cx="4470400" cy="3810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11914741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3734219869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54431415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05268256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47174120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71735036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428586245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11627129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4291562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51928228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67146159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8723757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50220755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3707844057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58300414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148159916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9577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436264"/>
                  </a:ext>
                </a:extLst>
              </a:tr>
            </a:tbl>
          </a:graphicData>
        </a:graphic>
      </p:graphicFrame>
      <p:graphicFrame>
        <p:nvGraphicFramePr>
          <p:cNvPr id="5" name="표 3">
            <a:extLst>
              <a:ext uri="{FF2B5EF4-FFF2-40B4-BE49-F238E27FC236}">
                <a16:creationId xmlns:a16="http://schemas.microsoft.com/office/drawing/2014/main" id="{10C91D73-9957-16AD-8F30-CF17D6F12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990321"/>
              </p:ext>
            </p:extLst>
          </p:nvPr>
        </p:nvGraphicFramePr>
        <p:xfrm>
          <a:off x="139700" y="980779"/>
          <a:ext cx="888365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1441556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1930542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577892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2362374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612366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Type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Channel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Address</a:t>
                      </a:r>
                      <a:endParaRPr lang="zh-CN" altLang="en-US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Function ( Code / Description )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Data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Project 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32 Byte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6570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Read All Status ( FAN, CUR, …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241 Byte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1513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Read All I/F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8 Byte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369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altLang="zh-CN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78295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altLang="zh-CN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257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756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60FC2458-E1FA-37AB-A814-3849A51AA451}"/>
              </a:ext>
            </a:extLst>
          </p:cNvPr>
          <p:cNvSpPr txBox="1"/>
          <p:nvPr/>
        </p:nvSpPr>
        <p:spPr>
          <a:xfrm>
            <a:off x="261258" y="249382"/>
            <a:ext cx="4422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PDO : Pre-Defined Operation [ 3 ]</a:t>
            </a:r>
            <a:endParaRPr lang="zh-CN" altLang="en-US" sz="2400" b="1" dirty="0"/>
          </a:p>
        </p:txBody>
      </p:sp>
      <p:graphicFrame>
        <p:nvGraphicFramePr>
          <p:cNvPr id="5" name="표 3">
            <a:extLst>
              <a:ext uri="{FF2B5EF4-FFF2-40B4-BE49-F238E27FC236}">
                <a16:creationId xmlns:a16="http://schemas.microsoft.com/office/drawing/2014/main" id="{10C91D73-9957-16AD-8F30-CF17D6F12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679067"/>
              </p:ext>
            </p:extLst>
          </p:nvPr>
        </p:nvGraphicFramePr>
        <p:xfrm>
          <a:off x="139700" y="980779"/>
          <a:ext cx="888365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1441556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1930542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577892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2362374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612366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Type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Channel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Address</a:t>
                      </a:r>
                      <a:endParaRPr lang="zh-CN" altLang="en-US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Function ( Code / Description )</a:t>
                      </a:r>
                      <a:endParaRPr lang="zh-CN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Data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Project 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32 Byte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6570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Read All Status ( FAN, CUR, …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241 Byte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51513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0xFF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0x00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0x12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Read All I/F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8 Byte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369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Erase FPGA PROM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4 Byte Address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78295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Program FPGA PROM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4B </a:t>
                      </a:r>
                      <a:r>
                        <a:rPr lang="en-US" altLang="zh-CN" sz="1200" dirty="0" err="1">
                          <a:solidFill>
                            <a:srgbClr val="FF0000"/>
                          </a:solidFill>
                        </a:rPr>
                        <a:t>Addr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 + 128B data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2575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0x22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Reboot FPGA from PROM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FF0000"/>
                          </a:solidFill>
                        </a:rPr>
                        <a:t>4 Byte Address</a:t>
                      </a:r>
                      <a:endParaRPr lang="zh-CN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5104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42FF6F-EDB7-58F6-8F6E-26308226AE8C}"/>
              </a:ext>
            </a:extLst>
          </p:cNvPr>
          <p:cNvSpPr txBox="1"/>
          <p:nvPr/>
        </p:nvSpPr>
        <p:spPr>
          <a:xfrm>
            <a:off x="139700" y="3148744"/>
            <a:ext cx="838486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Config PROM : about 1 minute for programing 10-MByte bitstream</a:t>
            </a:r>
          </a:p>
          <a:p>
            <a:pPr marL="285750" indent="-285750">
              <a:buFontTx/>
              <a:buChar char="-"/>
            </a:pPr>
            <a:r>
              <a:rPr lang="en-US" altLang="zh-CN" sz="1400" dirty="0"/>
              <a:t>Erase all PROM flash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400" b="0" dirty="0">
                <a:effectLst/>
                <a:latin typeface="Consolas" panose="020B0609020204030204" pitchFamily="49" charset="0"/>
              </a:rPr>
              <a:t>PDO_FUNC_ERASE_PROM : erase 64KB/once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400" dirty="0" err="1"/>
              <a:t>Argu</a:t>
            </a:r>
            <a:r>
              <a:rPr lang="en-US" altLang="zh-CN" sz="1400" dirty="0"/>
              <a:t> : 4 byte flash address with 64KB</a:t>
            </a:r>
            <a:r>
              <a:rPr lang="ko-KR" altLang="en-US" sz="1400" dirty="0"/>
              <a:t>씩 증가 </a:t>
            </a:r>
            <a:r>
              <a:rPr lang="en-US" altLang="zh-CN" sz="1400" dirty="0"/>
              <a:t>( 0x0000_0000, 0x0001_0000, 0x0002_0000, … )</a:t>
            </a:r>
          </a:p>
          <a:p>
            <a:pPr marL="285750" indent="-285750">
              <a:buFontTx/>
              <a:buChar char="-"/>
            </a:pPr>
            <a:endParaRPr lang="en-US" altLang="zh-CN" sz="1400" dirty="0"/>
          </a:p>
          <a:p>
            <a:pPr marL="285750" indent="-285750">
              <a:buFontTx/>
              <a:buChar char="-"/>
            </a:pPr>
            <a:r>
              <a:rPr lang="en-US" altLang="zh-CN" sz="1400" dirty="0"/>
              <a:t>Program *.bit file to PROM flash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400" b="0" dirty="0">
                <a:effectLst/>
                <a:latin typeface="Consolas" panose="020B0609020204030204" pitchFamily="49" charset="0"/>
              </a:rPr>
              <a:t>PDO_FUNC_CFG_PROM : program 128B/once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400" dirty="0" err="1"/>
              <a:t>Argu</a:t>
            </a:r>
            <a:r>
              <a:rPr lang="en-US" altLang="zh-CN" sz="1400" dirty="0"/>
              <a:t> : 4 byte flash address with 128B</a:t>
            </a:r>
            <a:r>
              <a:rPr lang="ko-KR" altLang="en-US" sz="1400" dirty="0"/>
              <a:t>씩 증가 </a:t>
            </a:r>
            <a:r>
              <a:rPr lang="en-US" altLang="zh-CN" sz="1400" dirty="0"/>
              <a:t>, 128 byte bitstream data</a:t>
            </a:r>
          </a:p>
          <a:p>
            <a:pPr marL="285750" indent="-285750">
              <a:buFontTx/>
              <a:buChar char="-"/>
            </a:pPr>
            <a:endParaRPr lang="en-US" altLang="zh-CN" sz="1400" dirty="0"/>
          </a:p>
          <a:p>
            <a:pPr marL="285750" indent="-285750">
              <a:buFontTx/>
              <a:buChar char="-"/>
            </a:pPr>
            <a:endParaRPr lang="en-US" altLang="zh-CN" sz="1400" dirty="0"/>
          </a:p>
          <a:p>
            <a:pPr marL="285750" indent="-285750">
              <a:buFontTx/>
              <a:buChar char="-"/>
            </a:pPr>
            <a:endParaRPr lang="en-US" altLang="zh-CN" sz="1400" dirty="0"/>
          </a:p>
          <a:p>
            <a:pPr marL="285750" indent="-285750">
              <a:buFontTx/>
              <a:buChar char="-"/>
            </a:pPr>
            <a:endParaRPr lang="en-US" altLang="zh-CN" sz="1400" dirty="0"/>
          </a:p>
          <a:p>
            <a:pPr marL="285750" indent="-285750">
              <a:buFontTx/>
              <a:buChar char="-"/>
            </a:pPr>
            <a:r>
              <a:rPr lang="en-US" altLang="zh-CN" sz="1400" dirty="0"/>
              <a:t>Reboot FPGA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400" dirty="0"/>
              <a:t>PDO_FUNC_REBOOT_FPGA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sz="1400" dirty="0" err="1"/>
              <a:t>Argu</a:t>
            </a:r>
            <a:r>
              <a:rPr lang="en-US" altLang="zh-CN" sz="1400" dirty="0"/>
              <a:t> : 4 byte flash address = 0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857BED0-71A6-B549-9449-9B35D05BF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" y="4973895"/>
            <a:ext cx="4515480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01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1895AB92-CF99-3115-8F98-BFC881444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617991"/>
              </p:ext>
            </p:extLst>
          </p:nvPr>
        </p:nvGraphicFramePr>
        <p:xfrm>
          <a:off x="371659" y="1423220"/>
          <a:ext cx="829449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899">
                  <a:extLst>
                    <a:ext uri="{9D8B030D-6E8A-4147-A177-3AD203B41FA5}">
                      <a16:colId xmlns:a16="http://schemas.microsoft.com/office/drawing/2014/main" val="667718742"/>
                    </a:ext>
                  </a:extLst>
                </a:gridCol>
                <a:gridCol w="1658899">
                  <a:extLst>
                    <a:ext uri="{9D8B030D-6E8A-4147-A177-3AD203B41FA5}">
                      <a16:colId xmlns:a16="http://schemas.microsoft.com/office/drawing/2014/main" val="2981527903"/>
                    </a:ext>
                  </a:extLst>
                </a:gridCol>
                <a:gridCol w="1658899">
                  <a:extLst>
                    <a:ext uri="{9D8B030D-6E8A-4147-A177-3AD203B41FA5}">
                      <a16:colId xmlns:a16="http://schemas.microsoft.com/office/drawing/2014/main" val="2064461668"/>
                    </a:ext>
                  </a:extLst>
                </a:gridCol>
                <a:gridCol w="1658899">
                  <a:extLst>
                    <a:ext uri="{9D8B030D-6E8A-4147-A177-3AD203B41FA5}">
                      <a16:colId xmlns:a16="http://schemas.microsoft.com/office/drawing/2014/main" val="2346904562"/>
                    </a:ext>
                  </a:extLst>
                </a:gridCol>
                <a:gridCol w="1658899">
                  <a:extLst>
                    <a:ext uri="{9D8B030D-6E8A-4147-A177-3AD203B41FA5}">
                      <a16:colId xmlns:a16="http://schemas.microsoft.com/office/drawing/2014/main" val="17022158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Status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LED[0]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LED[1]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LED[2]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LED[3]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98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ERR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0.1s blink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Off</a:t>
                      </a:r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Init fail : 0.FAN, 1.CUR, 2.TEMP, 3.TCON</a:t>
                      </a:r>
                      <a:endParaRPr lang="zh-CN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307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RUN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0.3s blink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Contack</a:t>
                      </a:r>
                      <a:r>
                        <a:rPr lang="en-US" altLang="zh-CN" sz="1400" dirty="0"/>
                        <a:t> check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Slide close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Socket connect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117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87690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102438</TotalTime>
  <Words>3928</Words>
  <Application>Microsoft Office PowerPoint</Application>
  <PresentationFormat>화면 슬라이드 쇼(4:3)</PresentationFormat>
  <Paragraphs>1372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30" baseType="lpstr">
      <vt:lpstr>等线</vt:lpstr>
      <vt:lpstr>微软雅黑</vt:lpstr>
      <vt:lpstr>宋体</vt:lpstr>
      <vt:lpstr>굴림</vt:lpstr>
      <vt:lpstr>맑은 고딕</vt:lpstr>
      <vt:lpstr>Arial</vt:lpstr>
      <vt:lpstr>Calibri</vt:lpstr>
      <vt:lpstr>Calibri Light</vt:lpstr>
      <vt:lpstr>Consolas</vt:lpstr>
      <vt:lpstr>Times New Roman</vt:lpstr>
      <vt:lpstr>Wingdings</vt:lpstr>
      <vt:lpstr>추억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SEUNG YUN</cp:lastModifiedBy>
  <cp:revision>2332</cp:revision>
  <cp:lastPrinted>2023-02-15T04:18:15Z</cp:lastPrinted>
  <dcterms:created xsi:type="dcterms:W3CDTF">2016-08-24T05:21:00Z</dcterms:created>
  <dcterms:modified xsi:type="dcterms:W3CDTF">2023-08-16T05:14:09Z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48971BBE424B400A8C422FCF6E0A8E61</vt:lpwstr>
  </property>
  <property fmtid="{D5CDD505-2E9C-101B-9397-08002B2CF9AE}" pid="3" name="KSOProductBuildVer">
    <vt:lpwstr>2052-11.1.0.10463</vt:lpwstr>
  </property>
</Properties>
</file>